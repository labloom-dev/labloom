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627B"/>
    <a:srgbClr val="202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55" y="3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预计时长：15 秒</a:t>
            </a:r>
          </a:p>
          <a:p>
            <a:endParaRPr/>
          </a:p>
          <a:p>
            <a:r>
              <a:t>讲稿</a:t>
            </a:r>
          </a:p>
          <a:p>
            <a:r>
              <a:t>各位老师好，我们汇报的项目是知织 Labloom，一款面向个人学术研究的科研与知识管理工作台。下面介绍项目的需求分析。</a:t>
            </a:r>
          </a:p>
          <a:p>
            <a:endParaRPr/>
          </a:p>
          <a:p>
            <a:r>
              <a:t>放映节奏</a:t>
            </a:r>
          </a:p>
          <a:p>
            <a:r>
              <a:t>封面完整显示，介绍结束后翻页。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1、2 章；项目 Logo 来自 resources/labloom-4x-trs.png。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预计时长：15 秒</a:t>
            </a:r>
          </a:p>
          <a:p>
            <a:endParaRPr/>
          </a:p>
          <a:p>
            <a:r>
              <a:t>讲稿</a:t>
            </a:r>
          </a:p>
          <a:p>
            <a:r>
              <a:t>汇报分为四部分。首先用学生完成学术调研的场景说明项目背景，再介绍主要功能，接着给出开发阶段的性能与质量预期，最后说明项目价值。</a:t>
            </a:r>
          </a:p>
          <a:p>
            <a:endParaRPr/>
          </a:p>
          <a:p>
            <a:r>
              <a:t>放映节奏</a:t>
            </a:r>
          </a:p>
          <a:p>
            <a:r>
              <a:t>目录一次完整显示，简要介绍后翻页。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 至 8 章。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预计时长：35 秒</a:t>
            </a:r>
          </a:p>
          <a:p>
            <a:endParaRPr/>
          </a:p>
          <a:p>
            <a:r>
              <a:t>讲稿</a:t>
            </a:r>
          </a:p>
          <a:p>
            <a:r>
              <a:t>先看一个我们比较熟悉的场景：一名学生正在撰写某个领域的学术调研报告。需要反复阅读的论文已经在 Zotero、PDF 查看器或网页中打开。读到一个有价值的方法或结论时，他需要切到笔记工具，复制相关文字，再记录自己的理解。有时会先记住刚才的内容，切换后再写下来。随后又回到论文，找回阅读位置并继续。这里反复发生的是应用切换、内容搬运，以及对上下文的重新确认。</a:t>
            </a:r>
          </a:p>
          <a:p>
            <a:endParaRPr/>
          </a:p>
          <a:p>
            <a:r>
              <a:t>放映节奏</a:t>
            </a:r>
          </a:p>
          <a:p>
            <a:r>
              <a:t>依次点击三次，分别显示阅读、记录、返回论文三个动作。插画为虚构学生情境，由图像生成工具制作。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 节及本次答辩讨论确认的背景口径。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预计时长：35 秒</a:t>
            </a:r>
          </a:p>
          <a:p>
            <a:endParaRPr/>
          </a:p>
          <a:p>
            <a:r>
              <a:t>讲稿</a:t>
            </a:r>
          </a:p>
          <a:p>
            <a:r>
              <a:t>当这名学生开始比较多篇论文并组织调研报告时，衔接成本进一步累积。他要在论文之间对照研究方法、实验结果与适用条件，又要打开已有笔记，整理自己的理解，然后把相关内容放入报告草稿。为了确保表述准确，还要回到论文核对原文和上下文。这些工作本身有研究价值，但在应用之间重复复制、暂时记忆和重新定位，会打断分析过程。知织希望改善的，就是这些环节之间的衔接。</a:t>
            </a:r>
          </a:p>
          <a:p>
            <a:endParaRPr/>
          </a:p>
          <a:p>
            <a:r>
              <a:t>放映节奏</a:t>
            </a:r>
          </a:p>
          <a:p>
            <a:r>
              <a:t>依次点击三次显示对照论文、整理理解、形成表达。插画为虚构研究场景。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1.3、2.1 节及本次答辩讨论确认的背景口径。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预计时长：40 秒</a:t>
            </a:r>
          </a:p>
          <a:p>
            <a:endParaRPr/>
          </a:p>
          <a:p>
            <a:r>
              <a:t>讲稿</a:t>
            </a:r>
          </a:p>
          <a:p>
            <a:r>
              <a:t>我们的解决思路是围绕同一个研究问题，在个人工作区中连接几类相互衔接的活动。资料从订阅或导入进入工作区，学生在阅读时记录批注，整理时直接引用已有内容，写作时可以回查原文。任务和日程也能关联完成它们所需的资料。这样，资料、个人理解与后续行动就有了稳定的联系。已保存内容支持离线使用。下面按订阅、文献阅读、日程提醒和知识库的顺序，介绍这些需求如何落实。</a:t>
            </a:r>
          </a:p>
          <a:p>
            <a:endParaRPr/>
          </a:p>
          <a:p>
            <a:r>
              <a:t>放映节奏</a:t>
            </a:r>
          </a:p>
          <a:p>
            <a:r>
              <a:t>第一次点击显示发现资料与阅读批注，第二次点击显示组织表达与推进任务。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2.1、2.3、3.1 节及 NFR-C03。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预计时长：50 秒</a:t>
            </a:r>
          </a:p>
          <a:p>
            <a:endParaRPr/>
          </a:p>
          <a:p>
            <a:r>
              <a:t>讲稿</a:t>
            </a:r>
          </a:p>
          <a:p>
            <a:r>
              <a:t>订阅负责持续获取关注方向的新论文。学生可以添加 RSS 或 Atom 地址，配置刷新间隔，并查看各来源的抓取状态。条目浏览支持关键词和阅读状态筛选，系统保存已读状态与阅读位置。有价值的论文可以手动入库，也可以按来源开启自动入库，默认关闭自动入库。跨来源出现疑似重复时需要确认，避免系统直接合并。单个来源失败不影响其他来源已经取得的结果，失败原因和重试入口应清楚可见。入库之后，资料就能继续参与阅读与批注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三次点击依次显示来源管理、条目阅读、文献入库。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v4.docx，LB-SRS-1-1 至 LB-SRS-1-4。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预计时长：75 秒</a:t>
            </a:r>
          </a:p>
          <a:p>
            <a:endParaRPr/>
          </a:p>
          <a:p>
            <a:r>
              <a:t>讲稿</a:t>
            </a:r>
          </a:p>
          <a:p>
            <a:r>
              <a:t>进入文献库后，学生可以从本地 PDF、DOI 或 BibTeX 导入文献，用标签和属性整理书目信息。获取不到的字段保持缺失状态，批量导入中失败的项目单独报告。阅读方面，系统应支持 PDF 翻页、搜索、缩放和阅读位置恢复。读到重要内容时，可以创建高亮，也可以建立批注，记录自己的理解。高亮是原文标记，批注是带有来源定位的页面，两者独立存在。后续整理报告时，可以引用批注，或复用批注里的内容块，再从来源入口回到原文位置核对。这一流程让阅读所得能够继续用于分析和写作。</a:t>
            </a:r>
          </a:p>
          <a:p>
            <a:endParaRPr/>
          </a:p>
          <a:p>
            <a:r>
              <a:t>放映节奏</a:t>
            </a:r>
          </a:p>
          <a:p>
            <a:r>
              <a:t>导入步骤首先显示。三次点击依次显示阅读、批注、回到原文。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v4.docx，LB-SRS-2-1 至 LB-SRS-2-5；LB-SRS-5-1 至 LB-SRS-5-3。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预计时长：45 秒</a:t>
            </a:r>
          </a:p>
          <a:p>
            <a:endParaRPr/>
          </a:p>
          <a:p>
            <a:r>
              <a:t>讲稿</a:t>
            </a:r>
          </a:p>
          <a:p>
            <a:r>
              <a:t>接着看这名学生如何安排研究工作。任务可以设置状态、优先级和截止日期，日程可以设置起止时间或全天范围。它们都能关联具体论文、阅读笔记和报告草稿。在查看安排时，学生可以直接进入相关内容，而不必只面对一个孤立的待办标题。表中的日期只是情境示例。提醒有明确边界：仅在应用运行期间，对仍然有效的计划触发一次；应用关闭期间不发送，重新打开也不补发错过的时刻。完成任务和处理通知是各自独立的操作。</a:t>
            </a:r>
          </a:p>
          <a:p>
            <a:endParaRPr/>
          </a:p>
          <a:p>
            <a:r>
              <a:t>放映节奏</a:t>
            </a:r>
          </a:p>
          <a:p>
            <a:r>
              <a:t>先讲示例任务表。点击一次显示提醒边界，再翻页。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v4.docx，LB-SRS-6-1 至 LB-SRS-6-3；表内任务和日期为示例。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预计时长：85 秒</a:t>
            </a:r>
          </a:p>
          <a:p>
            <a:endParaRPr/>
          </a:p>
          <a:p>
            <a:r>
              <a:t>讲稿</a:t>
            </a:r>
          </a:p>
          <a:p>
            <a:r>
              <a:t>前面的文献、批注和任务能够关联起来，依赖统一的知识库。它们都是页面，拥有正文、属性和标签。文献库是面向书目信息的表格视图，日历是面向日期和状态的视图，背后使用同一份页面数据。编辑器支持富文本、图片、表格、代码和数学公式等内容。这里重点区分引用与同步。引用可以指向页面或块，当前位置显示只读预览，并保留打开目标的入口。同步针对块，多个位置使用同一个内容对象；在允许编辑的位置修改后，其他位置显示相同内容。例如，一条分析可以同时放在阅读笔记与调研草稿中，修正论述时无需维护两份文本。系统不提供整页同步。全文搜索则帮助学生跨内容类型找到并进入目标。</a:t>
            </a:r>
          </a:p>
          <a:p>
            <a:endParaRPr/>
          </a:p>
          <a:p>
            <a:r>
              <a:t>放映节奏</a:t>
            </a:r>
          </a:p>
          <a:p>
            <a:r>
              <a:t>先讲统一页面。第一次点击显示引用，第二次点击显示同步块，第三次点击显示复用示例。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v4.docx，LB-SRS-3-1 至 LB-SRS-3-3；LB-SRS-4-1 至 LB-SRS-4-4；NFR-C02、NFR-UI04。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预计时长：50 秒</a:t>
            </a:r>
          </a:p>
          <a:p>
            <a:endParaRPr/>
          </a:p>
          <a:p>
            <a:r>
              <a:t>讲稿</a:t>
            </a:r>
          </a:p>
          <a:p>
            <a:r>
              <a:t>性能预期采用需求规格说明书中的拟定验收目标，尚不代表实测结果。代表性设备为四核处理器、八 GB 内存和 SSD。在规定的数据规模下，冷启动到可操作目标为五秒以内，已打开标签页切换的 P95 不超过三百毫秒，索引就绪后的首批搜索结果 P95 不超过一秒。常规编辑停止后，应在一秒内完成自动持久化。PDF 首屏指标限定为本地、含文本、一百页且不超过五十 MB 的文件。重复交互至少采样一百次，冷启动和大文件操作各至少十次，记录缓存条件与应用版本。</a:t>
            </a:r>
          </a:p>
          <a:p>
            <a:endParaRPr/>
          </a:p>
          <a:p>
            <a:r>
              <a:t>放映节奏</a:t>
            </a:r>
          </a:p>
          <a:p>
            <a:r>
              <a:t>整表同时显示，优先讲切换、搜索和保存三个指标，再交代测试条件。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v4.docx，NFR-P03 至 NFR-P10；表 2.3-1、表 5.2-1。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预计时长：45 秒</a:t>
            </a:r>
          </a:p>
          <a:p>
            <a:endParaRPr/>
          </a:p>
          <a:p>
            <a:r>
              <a:t>讲稿</a:t>
            </a:r>
          </a:p>
          <a:p>
            <a:r>
              <a:t>可靠性首先体现在保存状态可信。只有持久化提交成功，系统才能告诉用户内容已经保存；失败时必须保留尚未保存的内容并给出明确提示。其次，外部来源、批量导入或附件处理的单项失败，应限制在对应范围内，跨标签页编辑和撤销需要检查共享状态。最后，完整备份要求数据库和附件集合保持一致并通过校验，恢复失败后原工作区仍然可用。验收时会通过异常退出、磁盘满、附件复制失败和恢复中断等故障注入，检查这些行为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三次点击分别显示保存、失败隔离、备份恢复要求。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v4.docx，NFR-Q01 至 NFR-Q03；NFR-D03 至 NFR-D05；LB-SRS-7-3、LB-SRS-8-2 至 LB-SRS-8-3。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预计时长：40 秒</a:t>
            </a:r>
          </a:p>
          <a:p>
            <a:endParaRPr/>
          </a:p>
          <a:p>
            <a:r>
              <a:t>讲稿</a:t>
            </a:r>
          </a:p>
          <a:p>
            <a:r>
              <a:t>学术阅读和写作会积累私人正文、批注和搜索记录，因此系统采用本地优先的方式，不设置账号作为打开工作区的前提，也不采集遥测或上传研究正文。外部通信限于订阅以及用户明确触发的资料获取和访问。数据保护还包括可带走与可恢复：便携导出提供 Markdown 和附件，完整备份保存数据库与附件集合。永久删除、清空和替换恢复必须说明影响范围并确认。工作区和备份的访问权限由操作系统提供，备份也包含私人内容，需要由用户妥善保管。</a:t>
            </a:r>
          </a:p>
          <a:p>
            <a:endParaRPr/>
          </a:p>
          <a:p>
            <a:r>
              <a:t>放映节奏</a:t>
            </a:r>
          </a:p>
          <a:p>
            <a:r>
              <a:t>第一次点击显示本地与隐私，第二次点击显示导出与恢复。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v4.docx，NFR-Q04 至 NFR-Q09；NFR-O02；LB-SRS-8-1 至 LB-SRS-8-3。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预计时长：30 秒</a:t>
            </a:r>
          </a:p>
          <a:p>
            <a:endParaRPr/>
          </a:p>
          <a:p>
            <a:r>
              <a:t>讲稿</a:t>
            </a:r>
          </a:p>
          <a:p>
            <a:r>
              <a:t>回到开头那名撰写学术调研报告的学生。知织希望减少他在阅读、笔记和写作之间重复切换与搬运内容的负担，让已有理解保留来源，并持续用于比较、分析和表达。论文、个人理解与任务安排相互关联，构成可以继续使用的研究积累。这也是我们定义这些功能与质量要求的出发点。</a:t>
            </a:r>
          </a:p>
          <a:p>
            <a:endParaRPr/>
          </a:p>
          <a:p>
            <a:r>
              <a:t>放映节奏</a:t>
            </a:r>
          </a:p>
          <a:p>
            <a:r>
              <a:t>三次点击依次呈现三项预期价值。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1.3、2.1 节；本次答辩确认的项目定位。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预计时长：10 秒</a:t>
            </a:r>
          </a:p>
          <a:p>
            <a:endParaRPr/>
          </a:p>
          <a:p>
            <a:r>
              <a:t>讲稿</a:t>
            </a:r>
          </a:p>
          <a:p>
            <a:r>
              <a:t>以上是知织的项目需求分析。谢谢各位老师，欢迎提问。</a:t>
            </a:r>
          </a:p>
          <a:p>
            <a:endParaRPr/>
          </a:p>
          <a:p>
            <a:r>
              <a:t>放映节奏</a:t>
            </a:r>
          </a:p>
          <a:p>
            <a:r>
              <a:t>尾页保持完整显示，进入问答。</a:t>
            </a:r>
          </a:p>
          <a:p>
            <a:endParaRPr/>
          </a:p>
          <a:p>
            <a:r>
              <a:t>依据</a:t>
            </a:r>
          </a:p>
          <a:p>
            <a:r>
              <a:t>知织（Labloom）系统需求规格说明书 - v4.docx，第 1 至 8 章。</a:t>
            </a:r>
          </a:p>
          <a:p>
            <a:r>
              <a:t>情境及示例任务用于说明需求，不代表已完成用户调研或已实现功能。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ource-image-1">
            <a:extLst>
              <a:ext uri="{FF2B5EF4-FFF2-40B4-BE49-F238E27FC236}">
                <a16:creationId xmlns:a16="http://schemas.microsoft.com/office/drawing/2014/main" id="{F82C60F3-299E-C21E-DEB9-F12ADAB0D1E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6375"/>
            <a:ext cx="3905250" cy="3905250"/>
          </a:xfrm>
          <a:prstGeom prst="rect">
            <a:avLst/>
          </a:prstGeom>
        </p:spPr>
      </p:pic>
      <p:sp>
        <p:nvSpPr>
          <p:cNvPr id="2" name="cover-title">
            <a:extLst>
              <a:ext uri="{FF2B5EF4-FFF2-40B4-BE49-F238E27FC236}">
                <a16:creationId xmlns:a16="http://schemas.microsoft.com/office/drawing/2014/main" id="{46CB33B8-1D23-48AE-A6CA-D8FC53093668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72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知织</a:t>
            </a:r>
            <a:endParaRPr sz="720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ver-english">
            <a:extLst>
              <a:ext uri="{FF2B5EF4-FFF2-40B4-BE49-F238E27FC236}">
                <a16:creationId xmlns:a16="http://schemas.microsoft.com/office/drawing/2014/main" id="{6DBE5F9C-DE2E-42CF-BC15-FD703F580118}"/>
              </a:ext>
            </a:extLst>
          </p:cNvPr>
          <p:cNvSpPr>
            <a:spLocks noGrp="1"/>
          </p:cNvSpPr>
          <p:nvPr/>
        </p:nvSpPr>
        <p:spPr>
          <a:xfrm>
            <a:off x="5200650" y="2714625"/>
            <a:ext cx="6096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0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Labloom</a:t>
            </a:r>
            <a:endParaRPr sz="4200" b="0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41278A23-71E9-4E7A-8154-69A36EBD4947}"/>
              </a:ext>
            </a:extLst>
          </p:cNvPr>
          <p:cNvSpPr>
            <a:spLocks noGrp="1"/>
          </p:cNvSpPr>
          <p:nvPr/>
        </p:nvSpPr>
        <p:spPr>
          <a:xfrm>
            <a:off x="5200650" y="3667125"/>
            <a:ext cx="6381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个人科研与知识管理工作台</a:t>
            </a:r>
          </a:p>
        </p:txBody>
      </p:sp>
      <p:sp>
        <p:nvSpPr>
          <p:cNvPr id="5" name="cover-context">
            <a:extLst>
              <a:ext uri="{FF2B5EF4-FFF2-40B4-BE49-F238E27FC236}">
                <a16:creationId xmlns:a16="http://schemas.microsoft.com/office/drawing/2014/main" id="{0DE6734B-144F-44D8-A710-7EA5F0B2350D}"/>
              </a:ext>
            </a:extLst>
          </p:cNvPr>
          <p:cNvSpPr>
            <a:spLocks noGrp="1"/>
          </p:cNvSpPr>
          <p:nvPr/>
        </p:nvSpPr>
        <p:spPr>
          <a:xfrm>
            <a:off x="5200650" y="4295775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项目需求分析答辩</a:t>
            </a:r>
          </a:p>
        </p:txBody>
      </p:sp>
      <p:sp>
        <p:nvSpPr>
          <p:cNvPr id="6" name="cover-members">
            <a:extLst>
              <a:ext uri="{FF2B5EF4-FFF2-40B4-BE49-F238E27FC236}">
                <a16:creationId xmlns:a16="http://schemas.microsoft.com/office/drawing/2014/main" id="{5CF4526D-303F-49C1-8DA9-02C7A6AD1D5C}"/>
              </a:ext>
            </a:extLst>
          </p:cNvPr>
          <p:cNvSpPr>
            <a:spLocks noGrp="1"/>
          </p:cNvSpPr>
          <p:nvPr/>
        </p:nvSpPr>
        <p:spPr>
          <a:xfrm>
            <a:off x="5200650" y="53625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成员：&lt;成员&gt;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3FBE4EAD-439F-44E4-B998-1BB982007391}"/>
              </a:ext>
            </a:extLst>
          </p:cNvPr>
          <p:cNvSpPr>
            <a:spLocks noGrp="1"/>
          </p:cNvSpPr>
          <p:nvPr/>
        </p:nvSpPr>
        <p:spPr>
          <a:xfrm>
            <a:off x="5200650" y="5829300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2026 年 9 月 23 日</a:t>
            </a:r>
          </a:p>
        </p:txBody>
      </p:sp>
    </p:spTree>
    <p:extLst>
      <p:ext uri="{BB962C8B-B14F-4D97-AF65-F5344CB8AC3E}">
        <p14:creationId xmlns:p14="http://schemas.microsoft.com/office/powerpoint/2010/main" val="2085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DCEC906F-B09C-4373-A4C6-8F437CE83C8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5ABD689-C0C6-43A3-9903-5933E2CA4EB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知织 Labloom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20A4D24-1C4C-41A3-82C4-A0055DF2EB9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1">
            <a:extLst>
              <a:ext uri="{FF2B5EF4-FFF2-40B4-BE49-F238E27FC236}">
                <a16:creationId xmlns:a16="http://schemas.microsoft.com/office/drawing/2014/main" id="{966EECA6-2AE0-4C97-BE00-188A90671412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2">
            <a:extLst>
              <a:ext uri="{FF2B5EF4-FFF2-40B4-BE49-F238E27FC236}">
                <a16:creationId xmlns:a16="http://schemas.microsoft.com/office/drawing/2014/main" id="{2E0EEF0B-F953-4F76-8671-DFCD1F961BCB}"/>
              </a:ext>
            </a:extLst>
          </p:cNvPr>
          <p:cNvSpPr>
            <a:spLocks noGrp="1"/>
          </p:cNvSpPr>
          <p:nvPr/>
        </p:nvSpPr>
        <p:spPr>
          <a:xfrm>
            <a:off x="2019300" y="16954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6" name="text-3">
            <a:extLst>
              <a:ext uri="{FF2B5EF4-FFF2-40B4-BE49-F238E27FC236}">
                <a16:creationId xmlns:a16="http://schemas.microsoft.com/office/drawing/2014/main" id="{DB6D8892-4AA3-4514-A738-615A4B6E4DFF}"/>
              </a:ext>
            </a:extLst>
          </p:cNvPr>
          <p:cNvSpPr>
            <a:spLocks noGrp="1"/>
          </p:cNvSpPr>
          <p:nvPr/>
        </p:nvSpPr>
        <p:spPr>
          <a:xfrm>
            <a:off x="6572250" y="18288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学术调研中的工作衔接</a:t>
            </a:r>
          </a:p>
        </p:txBody>
      </p:sp>
      <p:sp>
        <p:nvSpPr>
          <p:cNvPr id="7" name="rule-4">
            <a:extLst>
              <a:ext uri="{FF2B5EF4-FFF2-40B4-BE49-F238E27FC236}">
                <a16:creationId xmlns:a16="http://schemas.microsoft.com/office/drawing/2014/main" id="{986A72AE-0EDF-4AD3-A161-F42AC6B34589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5">
            <a:extLst>
              <a:ext uri="{FF2B5EF4-FFF2-40B4-BE49-F238E27FC236}">
                <a16:creationId xmlns:a16="http://schemas.microsoft.com/office/drawing/2014/main" id="{F6FC6C25-D4BF-4A79-9227-10687AB0CA43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6">
            <a:extLst>
              <a:ext uri="{FF2B5EF4-FFF2-40B4-BE49-F238E27FC236}">
                <a16:creationId xmlns:a16="http://schemas.microsoft.com/office/drawing/2014/main" id="{51A4A664-107A-4A00-92F7-BBCE193E442E}"/>
              </a:ext>
            </a:extLst>
          </p:cNvPr>
          <p:cNvSpPr>
            <a:spLocks noGrp="1"/>
          </p:cNvSpPr>
          <p:nvPr/>
        </p:nvSpPr>
        <p:spPr>
          <a:xfrm>
            <a:off x="2019300" y="274320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10" name="text-7">
            <a:extLst>
              <a:ext uri="{FF2B5EF4-FFF2-40B4-BE49-F238E27FC236}">
                <a16:creationId xmlns:a16="http://schemas.microsoft.com/office/drawing/2014/main" id="{B49A46E2-7EB3-4202-A6D8-FF4E2C15C211}"/>
              </a:ext>
            </a:extLst>
          </p:cNvPr>
          <p:cNvSpPr>
            <a:spLocks noGrp="1"/>
          </p:cNvSpPr>
          <p:nvPr/>
        </p:nvSpPr>
        <p:spPr>
          <a:xfrm>
            <a:off x="6572250" y="28765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围绕资料、理解和行动</a:t>
            </a:r>
          </a:p>
        </p:txBody>
      </p:sp>
      <p:sp>
        <p:nvSpPr>
          <p:cNvPr id="11" name="rule-8">
            <a:extLst>
              <a:ext uri="{FF2B5EF4-FFF2-40B4-BE49-F238E27FC236}">
                <a16:creationId xmlns:a16="http://schemas.microsoft.com/office/drawing/2014/main" id="{450C76A0-7664-484F-B746-70A309ABFDAF}"/>
              </a:ext>
            </a:extLst>
          </p:cNvPr>
          <p:cNvSpPr>
            <a:spLocks noGrp="1"/>
          </p:cNvSpPr>
          <p:nvPr/>
        </p:nvSpPr>
        <p:spPr>
          <a:xfrm>
            <a:off x="2000250" y="356235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-9">
            <a:extLst>
              <a:ext uri="{FF2B5EF4-FFF2-40B4-BE49-F238E27FC236}">
                <a16:creationId xmlns:a16="http://schemas.microsoft.com/office/drawing/2014/main" id="{FE7E1020-E18E-4C5B-B111-80DAC9E894A1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-10">
            <a:extLst>
              <a:ext uri="{FF2B5EF4-FFF2-40B4-BE49-F238E27FC236}">
                <a16:creationId xmlns:a16="http://schemas.microsoft.com/office/drawing/2014/main" id="{598F492F-4550-44C9-83F1-167BA38F9866}"/>
              </a:ext>
            </a:extLst>
          </p:cNvPr>
          <p:cNvSpPr>
            <a:spLocks noGrp="1"/>
          </p:cNvSpPr>
          <p:nvPr/>
        </p:nvSpPr>
        <p:spPr>
          <a:xfrm>
            <a:off x="2019300" y="379095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14" name="text-11">
            <a:extLst>
              <a:ext uri="{FF2B5EF4-FFF2-40B4-BE49-F238E27FC236}">
                <a16:creationId xmlns:a16="http://schemas.microsoft.com/office/drawing/2014/main" id="{FF295D88-0AC5-4661-A1F9-5EADFF31A1E3}"/>
              </a:ext>
            </a:extLst>
          </p:cNvPr>
          <p:cNvSpPr>
            <a:spLocks noGrp="1"/>
          </p:cNvSpPr>
          <p:nvPr/>
        </p:nvSpPr>
        <p:spPr>
          <a:xfrm>
            <a:off x="6572250" y="39243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性能、可靠性与数据保护</a:t>
            </a:r>
          </a:p>
        </p:txBody>
      </p:sp>
      <p:sp>
        <p:nvSpPr>
          <p:cNvPr id="15" name="rule-12">
            <a:extLst>
              <a:ext uri="{FF2B5EF4-FFF2-40B4-BE49-F238E27FC236}">
                <a16:creationId xmlns:a16="http://schemas.microsoft.com/office/drawing/2014/main" id="{B66DD77B-77B6-4F87-A963-0226A0E53C42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9334500" cy="14288"/>
          </a:xfrm>
          <a:prstGeom prst="rect">
            <a:avLst/>
          </a:prstGeom>
          <a:solidFill>
            <a:srgbClr val="4149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-13">
            <a:extLst>
              <a:ext uri="{FF2B5EF4-FFF2-40B4-BE49-F238E27FC236}">
                <a16:creationId xmlns:a16="http://schemas.microsoft.com/office/drawing/2014/main" id="{B7D7ADB5-0D91-40C7-9F20-E405FCCACBB6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9048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CBAE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A0BC0072-9A5A-4816-A94D-CBE071E044DD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37744DDD-3FA5-4FDD-BA53-E447E93356BA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回到学生的研究过程</a:t>
            </a:r>
            <a:endParaRPr sz="2100" b="0" dirty="0">
              <a:solidFill>
                <a:srgbClr val="C7CEE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578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ource-image-3">
            <a:extLst>
              <a:ext uri="{FF2B5EF4-FFF2-40B4-BE49-F238E27FC236}">
                <a16:creationId xmlns:a16="http://schemas.microsoft.com/office/drawing/2014/main" id="{A48FCB11-CA79-EEAC-8DE9-5F8DF1EB0B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582" y="1666875"/>
            <a:ext cx="5524500" cy="3686175"/>
          </a:xfrm>
          <a:prstGeom prst="rect">
            <a:avLst/>
          </a:prstGeom>
        </p:spPr>
      </p:pic>
      <p:sp>
        <p:nvSpPr>
          <p:cNvPr id="10" name="slide-title">
            <a:extLst>
              <a:ext uri="{FF2B5EF4-FFF2-40B4-BE49-F238E27FC236}">
                <a16:creationId xmlns:a16="http://schemas.microsoft.com/office/drawing/2014/main" id="{FF907566-1473-4071-B9C9-2BFE38AE34F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阅读与记录之间的切换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0459337-CF95-440A-A180-AE9D6F87B6E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F39F4D2E-E88E-4BC3-B939-51C1A405D12B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16">
            <a:extLst>
              <a:ext uri="{FF2B5EF4-FFF2-40B4-BE49-F238E27FC236}">
                <a16:creationId xmlns:a16="http://schemas.microsoft.com/office/drawing/2014/main" id="{BF7A0254-4269-4CF7-B60E-A13E1724516B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381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一名学生</a:t>
            </a:r>
            <a:endParaRPr lang="en-US" sz="255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需要</a:t>
            </a:r>
            <a:r>
              <a:rPr sz="255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撰写某领域的学术调研报告</a:t>
            </a:r>
            <a:endParaRPr sz="2550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an1_read">
            <a:extLst>
              <a:ext uri="{FF2B5EF4-FFF2-40B4-BE49-F238E27FC236}">
                <a16:creationId xmlns:a16="http://schemas.microsoft.com/office/drawing/2014/main" id="{EF70AA41-654E-47C7-AB51-8AEEA7DF78F3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读到有价值的方法或结论</a:t>
            </a:r>
          </a:p>
        </p:txBody>
      </p:sp>
      <p:sp>
        <p:nvSpPr>
          <p:cNvPr id="7" name="an2_note">
            <a:extLst>
              <a:ext uri="{FF2B5EF4-FFF2-40B4-BE49-F238E27FC236}">
                <a16:creationId xmlns:a16="http://schemas.microsoft.com/office/drawing/2014/main" id="{3FC0D799-2813-409F-97D4-E662DFD794C8}"/>
              </a:ext>
            </a:extLst>
          </p:cNvPr>
          <p:cNvSpPr>
            <a:spLocks noGrp="1"/>
          </p:cNvSpPr>
          <p:nvPr/>
        </p:nvSpPr>
        <p:spPr>
          <a:xfrm>
            <a:off x="609600" y="3512593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切到笔记，复制或凭记忆记录</a:t>
            </a:r>
          </a:p>
        </p:txBody>
      </p:sp>
      <p:sp>
        <p:nvSpPr>
          <p:cNvPr id="8" name="an3_return">
            <a:extLst>
              <a:ext uri="{FF2B5EF4-FFF2-40B4-BE49-F238E27FC236}">
                <a16:creationId xmlns:a16="http://schemas.microsoft.com/office/drawing/2014/main" id="{327573C1-5BA7-4C5F-AC36-9CF391EC94E0}"/>
              </a:ext>
            </a:extLst>
          </p:cNvPr>
          <p:cNvSpPr>
            <a:spLocks noGrp="1"/>
          </p:cNvSpPr>
          <p:nvPr/>
        </p:nvSpPr>
        <p:spPr>
          <a:xfrm>
            <a:off x="609600" y="4148636"/>
            <a:ext cx="533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再切回论文，继续阅读与核对</a:t>
            </a:r>
            <a:endParaRPr sz="2400" b="0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-17">
            <a:extLst>
              <a:ext uri="{FF2B5EF4-FFF2-40B4-BE49-F238E27FC236}">
                <a16:creationId xmlns:a16="http://schemas.microsoft.com/office/drawing/2014/main" id="{DBBDFCAC-B900-4B30-8E12-B683D7CA422F}"/>
              </a:ext>
            </a:extLst>
          </p:cNvPr>
          <p:cNvSpPr>
            <a:spLocks noGrp="1"/>
          </p:cNvSpPr>
          <p:nvPr/>
        </p:nvSpPr>
        <p:spPr>
          <a:xfrm>
            <a:off x="1472886" y="4851360"/>
            <a:ext cx="2951448" cy="10553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r>
              <a:rPr lang="zh-CN" altLang="en-US" sz="32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在频繁搬迁</a:t>
            </a:r>
            <a:endParaRPr lang="en-US" altLang="zh-CN" sz="32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7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思路被不断打断</a:t>
            </a:r>
            <a:endParaRPr sz="320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0316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ource-image-4">
            <a:extLst>
              <a:ext uri="{FF2B5EF4-FFF2-40B4-BE49-F238E27FC236}">
                <a16:creationId xmlns:a16="http://schemas.microsoft.com/office/drawing/2014/main" id="{9FBD8EF2-33B9-E876-2560-24E6021DB7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57350"/>
            <a:ext cx="5715000" cy="3810000"/>
          </a:xfrm>
          <a:prstGeom prst="rect">
            <a:avLst/>
          </a:prstGeom>
        </p:spPr>
      </p:pic>
      <p:sp>
        <p:nvSpPr>
          <p:cNvPr id="15" name="slide-title">
            <a:extLst>
              <a:ext uri="{FF2B5EF4-FFF2-40B4-BE49-F238E27FC236}">
                <a16:creationId xmlns:a16="http://schemas.microsoft.com/office/drawing/2014/main" id="{890D9016-E581-4C42-A715-E87085EADAB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多篇论文的比较与写作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2391F1D-6A12-46AD-9A42-5C809CA326F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00BC9E0-ECE8-452C-B5D2-C910E2D817B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an1_item1_num">
            <a:extLst>
              <a:ext uri="{FF2B5EF4-FFF2-40B4-BE49-F238E27FC236}">
                <a16:creationId xmlns:a16="http://schemas.microsoft.com/office/drawing/2014/main" id="{6F0558B1-AEBA-41D7-98E2-8CD24B77B928}"/>
              </a:ext>
            </a:extLst>
          </p:cNvPr>
          <p:cNvSpPr>
            <a:spLocks noGrp="1"/>
          </p:cNvSpPr>
          <p:nvPr/>
        </p:nvSpPr>
        <p:spPr>
          <a:xfrm>
            <a:off x="6896100" y="17716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item1_title">
            <a:extLst>
              <a:ext uri="{FF2B5EF4-FFF2-40B4-BE49-F238E27FC236}">
                <a16:creationId xmlns:a16="http://schemas.microsoft.com/office/drawing/2014/main" id="{77D4123F-BB1F-43D2-B78A-F6C319A1013C}"/>
              </a:ext>
            </a:extLst>
          </p:cNvPr>
          <p:cNvSpPr>
            <a:spLocks noGrp="1"/>
          </p:cNvSpPr>
          <p:nvPr/>
        </p:nvSpPr>
        <p:spPr>
          <a:xfrm>
            <a:off x="7658100" y="177165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对照论文</a:t>
            </a:r>
          </a:p>
        </p:txBody>
      </p:sp>
      <p:sp>
        <p:nvSpPr>
          <p:cNvPr id="7" name="an1_item1_body">
            <a:extLst>
              <a:ext uri="{FF2B5EF4-FFF2-40B4-BE49-F238E27FC236}">
                <a16:creationId xmlns:a16="http://schemas.microsoft.com/office/drawing/2014/main" id="{CB48A00A-74EC-4C23-B4EC-1C41CD16FE0C}"/>
              </a:ext>
            </a:extLst>
          </p:cNvPr>
          <p:cNvSpPr>
            <a:spLocks noGrp="1"/>
          </p:cNvSpPr>
          <p:nvPr/>
        </p:nvSpPr>
        <p:spPr>
          <a:xfrm>
            <a:off x="7658100" y="230505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方法、结果和适用条件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an2_item2_num">
            <a:extLst>
              <a:ext uri="{FF2B5EF4-FFF2-40B4-BE49-F238E27FC236}">
                <a16:creationId xmlns:a16="http://schemas.microsoft.com/office/drawing/2014/main" id="{D3B12E08-ADE8-4582-A914-40BE3C89426D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2_item2_title">
            <a:extLst>
              <a:ext uri="{FF2B5EF4-FFF2-40B4-BE49-F238E27FC236}">
                <a16:creationId xmlns:a16="http://schemas.microsoft.com/office/drawing/2014/main" id="{ACCD83FE-7809-4A37-BC02-B6E04643A07F}"/>
              </a:ext>
            </a:extLst>
          </p:cNvPr>
          <p:cNvSpPr>
            <a:spLocks noGrp="1"/>
          </p:cNvSpPr>
          <p:nvPr/>
        </p:nvSpPr>
        <p:spPr>
          <a:xfrm>
            <a:off x="7658100" y="323850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整理理解</a:t>
            </a:r>
          </a:p>
        </p:txBody>
      </p:sp>
      <p:sp>
        <p:nvSpPr>
          <p:cNvPr id="10" name="an2_item2_body">
            <a:extLst>
              <a:ext uri="{FF2B5EF4-FFF2-40B4-BE49-F238E27FC236}">
                <a16:creationId xmlns:a16="http://schemas.microsoft.com/office/drawing/2014/main" id="{4F164D64-4DF0-4B96-8F92-EDA57E47B4F7}"/>
              </a:ext>
            </a:extLst>
          </p:cNvPr>
          <p:cNvSpPr>
            <a:spLocks noGrp="1"/>
          </p:cNvSpPr>
          <p:nvPr/>
        </p:nvSpPr>
        <p:spPr>
          <a:xfrm>
            <a:off x="7658100" y="377190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把相关笔记</a:t>
            </a: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组织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到同一主题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3_item3_num">
            <a:extLst>
              <a:ext uri="{FF2B5EF4-FFF2-40B4-BE49-F238E27FC236}">
                <a16:creationId xmlns:a16="http://schemas.microsoft.com/office/drawing/2014/main" id="{F70BF9AB-30E6-4869-8721-A436C62B5418}"/>
              </a:ext>
            </a:extLst>
          </p:cNvPr>
          <p:cNvSpPr>
            <a:spLocks noGrp="1"/>
          </p:cNvSpPr>
          <p:nvPr/>
        </p:nvSpPr>
        <p:spPr>
          <a:xfrm>
            <a:off x="6896100" y="47053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3_item3_title">
            <a:extLst>
              <a:ext uri="{FF2B5EF4-FFF2-40B4-BE49-F238E27FC236}">
                <a16:creationId xmlns:a16="http://schemas.microsoft.com/office/drawing/2014/main" id="{CC3A0C92-5781-40FF-B146-A6ADCE2DE194}"/>
              </a:ext>
            </a:extLst>
          </p:cNvPr>
          <p:cNvSpPr>
            <a:spLocks noGrp="1"/>
          </p:cNvSpPr>
          <p:nvPr/>
        </p:nvSpPr>
        <p:spPr>
          <a:xfrm>
            <a:off x="7658100" y="4705350"/>
            <a:ext cx="3952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形成表达</a:t>
            </a:r>
          </a:p>
        </p:txBody>
      </p:sp>
      <p:sp>
        <p:nvSpPr>
          <p:cNvPr id="13" name="an3_item3_body">
            <a:extLst>
              <a:ext uri="{FF2B5EF4-FFF2-40B4-BE49-F238E27FC236}">
                <a16:creationId xmlns:a16="http://schemas.microsoft.com/office/drawing/2014/main" id="{71262F10-8EFF-41D1-8A43-10E72CD73D29}"/>
              </a:ext>
            </a:extLst>
          </p:cNvPr>
          <p:cNvSpPr>
            <a:spLocks noGrp="1"/>
          </p:cNvSpPr>
          <p:nvPr/>
        </p:nvSpPr>
        <p:spPr>
          <a:xfrm>
            <a:off x="7658100" y="5238750"/>
            <a:ext cx="39528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搬入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草稿，再</a:t>
            </a:r>
            <a:r>
              <a:rPr sz="2100" b="1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核对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-18">
            <a:extLst>
              <a:ext uri="{FF2B5EF4-FFF2-40B4-BE49-F238E27FC236}">
                <a16:creationId xmlns:a16="http://schemas.microsoft.com/office/drawing/2014/main" id="{091A6AF5-5D26-4A78-83DC-0A0F1A4F1F0A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6381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复制之后</a:t>
            </a:r>
            <a:r>
              <a:rPr sz="225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250" b="1" dirty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无法</a:t>
            </a:r>
            <a:r>
              <a:rPr sz="2250" b="1" dirty="0" err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维持内容与来源的联系</a:t>
            </a:r>
            <a:endParaRPr sz="2250" b="1" dirty="0">
              <a:solidFill>
                <a:srgbClr val="5652B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3490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49D42E24-D66A-44DD-B79D-E4A167D1534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解决之道：连续的研究工作空间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6EAFDA96-3102-42B7-9FF6-ABE79CE6720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5B6D3F9-CB6B-44B3-8F9E-D8F4074F801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19">
            <a:extLst>
              <a:ext uri="{FF2B5EF4-FFF2-40B4-BE49-F238E27FC236}">
                <a16:creationId xmlns:a16="http://schemas.microsoft.com/office/drawing/2014/main" id="{4204F646-012A-4C99-A954-3F22AD5C2C40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围绕同一个研究问题，连接资料、理解与后续行动</a:t>
            </a:r>
          </a:p>
        </p:txBody>
      </p:sp>
      <p:sp>
        <p:nvSpPr>
          <p:cNvPr id="5" name="an1_step0_num">
            <a:extLst>
              <a:ext uri="{FF2B5EF4-FFF2-40B4-BE49-F238E27FC236}">
                <a16:creationId xmlns:a16="http://schemas.microsoft.com/office/drawing/2014/main" id="{B22FE232-8ADF-4FD1-BC21-B8E6815D9A58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step0_title">
            <a:extLst>
              <a:ext uri="{FF2B5EF4-FFF2-40B4-BE49-F238E27FC236}">
                <a16:creationId xmlns:a16="http://schemas.microsoft.com/office/drawing/2014/main" id="{94464BF9-5004-4E27-B285-6379EFB2F1B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发现资料</a:t>
            </a:r>
          </a:p>
        </p:txBody>
      </p:sp>
      <p:sp>
        <p:nvSpPr>
          <p:cNvPr id="7" name="an1_step0_body">
            <a:extLst>
              <a:ext uri="{FF2B5EF4-FFF2-40B4-BE49-F238E27FC236}">
                <a16:creationId xmlns:a16="http://schemas.microsoft.com/office/drawing/2014/main" id="{A90012F1-5272-4FEF-AD86-07EBAAA700EB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持续关注论文</a:t>
            </a: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保存有用资料</a:t>
            </a:r>
          </a:p>
        </p:txBody>
      </p:sp>
      <p:sp>
        <p:nvSpPr>
          <p:cNvPr id="8" name="an1_step1_num">
            <a:extLst>
              <a:ext uri="{FF2B5EF4-FFF2-40B4-BE49-F238E27FC236}">
                <a16:creationId xmlns:a16="http://schemas.microsoft.com/office/drawing/2014/main" id="{25255004-EF8D-4B04-87FF-7204D5513288}"/>
              </a:ext>
            </a:extLst>
          </p:cNvPr>
          <p:cNvSpPr>
            <a:spLocks noGrp="1"/>
          </p:cNvSpPr>
          <p:nvPr/>
        </p:nvSpPr>
        <p:spPr>
          <a:xfrm>
            <a:off x="3464735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1_step1_title">
            <a:extLst>
              <a:ext uri="{FF2B5EF4-FFF2-40B4-BE49-F238E27FC236}">
                <a16:creationId xmlns:a16="http://schemas.microsoft.com/office/drawing/2014/main" id="{C94151B1-4D39-4432-94EC-1A5C71EE43E1}"/>
              </a:ext>
            </a:extLst>
          </p:cNvPr>
          <p:cNvSpPr>
            <a:spLocks noGrp="1"/>
          </p:cNvSpPr>
          <p:nvPr/>
        </p:nvSpPr>
        <p:spPr>
          <a:xfrm>
            <a:off x="3464735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阅读批注</a:t>
            </a:r>
            <a:endParaRPr sz="2625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n1_step1_body">
            <a:extLst>
              <a:ext uri="{FF2B5EF4-FFF2-40B4-BE49-F238E27FC236}">
                <a16:creationId xmlns:a16="http://schemas.microsoft.com/office/drawing/2014/main" id="{4F335676-9572-4C44-B68C-21711BFA0590}"/>
              </a:ext>
            </a:extLst>
          </p:cNvPr>
          <p:cNvSpPr>
            <a:spLocks noGrp="1"/>
          </p:cNvSpPr>
          <p:nvPr/>
        </p:nvSpPr>
        <p:spPr>
          <a:xfrm>
            <a:off x="3464735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记录自己的理解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随时返回原文</a:t>
            </a:r>
            <a:endParaRPr sz="21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n2_step2_num">
            <a:extLst>
              <a:ext uri="{FF2B5EF4-FFF2-40B4-BE49-F238E27FC236}">
                <a16:creationId xmlns:a16="http://schemas.microsoft.com/office/drawing/2014/main" id="{C513BD39-6B91-4EB8-9115-3E8B9BBCBB85}"/>
              </a:ext>
            </a:extLst>
          </p:cNvPr>
          <p:cNvSpPr>
            <a:spLocks noGrp="1"/>
          </p:cNvSpPr>
          <p:nvPr/>
        </p:nvSpPr>
        <p:spPr>
          <a:xfrm>
            <a:off x="6393706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2_step2_title">
            <a:extLst>
              <a:ext uri="{FF2B5EF4-FFF2-40B4-BE49-F238E27FC236}">
                <a16:creationId xmlns:a16="http://schemas.microsoft.com/office/drawing/2014/main" id="{342B0F49-A19D-4121-9702-9C357848B612}"/>
              </a:ext>
            </a:extLst>
          </p:cNvPr>
          <p:cNvSpPr>
            <a:spLocks noGrp="1"/>
          </p:cNvSpPr>
          <p:nvPr/>
        </p:nvSpPr>
        <p:spPr>
          <a:xfrm>
            <a:off x="6393706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组织表达</a:t>
            </a:r>
          </a:p>
        </p:txBody>
      </p:sp>
      <p:sp>
        <p:nvSpPr>
          <p:cNvPr id="13" name="an2_step2_body">
            <a:extLst>
              <a:ext uri="{FF2B5EF4-FFF2-40B4-BE49-F238E27FC236}">
                <a16:creationId xmlns:a16="http://schemas.microsoft.com/office/drawing/2014/main" id="{825037C7-287E-4A33-A7FB-CBBF84096FE7}"/>
              </a:ext>
            </a:extLst>
          </p:cNvPr>
          <p:cNvSpPr>
            <a:spLocks noGrp="1"/>
          </p:cNvSpPr>
          <p:nvPr/>
        </p:nvSpPr>
        <p:spPr>
          <a:xfrm>
            <a:off x="6393706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引用已有内容</a:t>
            </a: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持续复用积累</a:t>
            </a:r>
          </a:p>
        </p:txBody>
      </p:sp>
      <p:sp>
        <p:nvSpPr>
          <p:cNvPr id="14" name="an2_step3_num">
            <a:extLst>
              <a:ext uri="{FF2B5EF4-FFF2-40B4-BE49-F238E27FC236}">
                <a16:creationId xmlns:a16="http://schemas.microsoft.com/office/drawing/2014/main" id="{6B96AFA7-39FB-40AF-AF42-FE9D2B18B0CF}"/>
              </a:ext>
            </a:extLst>
          </p:cNvPr>
          <p:cNvSpPr>
            <a:spLocks noGrp="1"/>
          </p:cNvSpPr>
          <p:nvPr/>
        </p:nvSpPr>
        <p:spPr>
          <a:xfrm>
            <a:off x="9214762" y="2714625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7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an2_step3_title">
            <a:extLst>
              <a:ext uri="{FF2B5EF4-FFF2-40B4-BE49-F238E27FC236}">
                <a16:creationId xmlns:a16="http://schemas.microsoft.com/office/drawing/2014/main" id="{9CEB8781-3429-4B4B-8B69-4A2F16F83592}"/>
              </a:ext>
            </a:extLst>
          </p:cNvPr>
          <p:cNvSpPr>
            <a:spLocks noGrp="1"/>
          </p:cNvSpPr>
          <p:nvPr/>
        </p:nvSpPr>
        <p:spPr>
          <a:xfrm>
            <a:off x="9214762" y="3676650"/>
            <a:ext cx="2333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推进任务</a:t>
            </a:r>
          </a:p>
        </p:txBody>
      </p:sp>
      <p:sp>
        <p:nvSpPr>
          <p:cNvPr id="16" name="an2_step3_body">
            <a:extLst>
              <a:ext uri="{FF2B5EF4-FFF2-40B4-BE49-F238E27FC236}">
                <a16:creationId xmlns:a16="http://schemas.microsoft.com/office/drawing/2014/main" id="{4FDA9A31-CE1E-41C9-9296-C20DEDF06D20}"/>
              </a:ext>
            </a:extLst>
          </p:cNvPr>
          <p:cNvSpPr>
            <a:spLocks noGrp="1"/>
          </p:cNvSpPr>
          <p:nvPr/>
        </p:nvSpPr>
        <p:spPr>
          <a:xfrm>
            <a:off x="9214762" y="4457700"/>
            <a:ext cx="2514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关联相关资料</a:t>
            </a:r>
          </a:p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安排日程与提醒</a:t>
            </a:r>
          </a:p>
        </p:txBody>
      </p:sp>
    </p:spTree>
    <p:extLst>
      <p:ext uri="{BB962C8B-B14F-4D97-AF65-F5344CB8AC3E}">
        <p14:creationId xmlns:p14="http://schemas.microsoft.com/office/powerpoint/2010/main" val="97330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ource-image-6">
            <a:extLst>
              <a:ext uri="{FF2B5EF4-FFF2-40B4-BE49-F238E27FC236}">
                <a16:creationId xmlns:a16="http://schemas.microsoft.com/office/drawing/2014/main" id="{477C24C9-F812-D419-0F90-4640B869C6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62150"/>
            <a:ext cx="1066800" cy="1066800"/>
          </a:xfrm>
          <a:prstGeom prst="rect">
            <a:avLst/>
          </a:prstGeom>
        </p:spPr>
      </p:pic>
      <p:sp>
        <p:nvSpPr>
          <p:cNvPr id="16" name="slide-title">
            <a:extLst>
              <a:ext uri="{FF2B5EF4-FFF2-40B4-BE49-F238E27FC236}">
                <a16:creationId xmlns:a16="http://schemas.microsoft.com/office/drawing/2014/main" id="{ECC202F2-FA57-4BFC-B2CF-EAE2487E3C4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订阅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FEC1308F-0DF2-4C7F-BC99-60468259EC4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FD067E6-8948-4E90-AD9C-E5ECE9CEC9B0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-21">
            <a:extLst>
              <a:ext uri="{FF2B5EF4-FFF2-40B4-BE49-F238E27FC236}">
                <a16:creationId xmlns:a16="http://schemas.microsoft.com/office/drawing/2014/main" id="{229BCB5B-3815-4194-AF40-D27CB8D6FD55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863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持续关注</a:t>
            </a:r>
          </a:p>
          <a:p>
            <a:pPr>
              <a:def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自己的研究方向</a:t>
            </a:r>
          </a:p>
        </p:txBody>
      </p:sp>
      <p:sp>
        <p:nvSpPr>
          <p:cNvPr id="6" name="text-22">
            <a:extLst>
              <a:ext uri="{FF2B5EF4-FFF2-40B4-BE49-F238E27FC236}">
                <a16:creationId xmlns:a16="http://schemas.microsoft.com/office/drawing/2014/main" id="{BCE44933-26A8-4981-B484-5B704A1FD3D7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191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RSS / Atom 论文来源</a:t>
            </a:r>
          </a:p>
        </p:txBody>
      </p:sp>
      <p:sp>
        <p:nvSpPr>
          <p:cNvPr id="7" name="an1_item1_num">
            <a:extLst>
              <a:ext uri="{FF2B5EF4-FFF2-40B4-BE49-F238E27FC236}">
                <a16:creationId xmlns:a16="http://schemas.microsoft.com/office/drawing/2014/main" id="{765BCAD2-8BA4-4250-9AEA-F0F2E115337D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an1_item1_title">
            <a:extLst>
              <a:ext uri="{FF2B5EF4-FFF2-40B4-BE49-F238E27FC236}">
                <a16:creationId xmlns:a16="http://schemas.microsoft.com/office/drawing/2014/main" id="{880A07C8-C524-449A-BC78-4CA28DED0E24}"/>
              </a:ext>
            </a:extLst>
          </p:cNvPr>
          <p:cNvSpPr>
            <a:spLocks noGrp="1"/>
          </p:cNvSpPr>
          <p:nvPr/>
        </p:nvSpPr>
        <p:spPr>
          <a:xfrm>
            <a:off x="6953250" y="161925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添加与维护来源</a:t>
            </a:r>
          </a:p>
        </p:txBody>
      </p:sp>
      <p:sp>
        <p:nvSpPr>
          <p:cNvPr id="9" name="an1_item1_body">
            <a:extLst>
              <a:ext uri="{FF2B5EF4-FFF2-40B4-BE49-F238E27FC236}">
                <a16:creationId xmlns:a16="http://schemas.microsoft.com/office/drawing/2014/main" id="{B8F0B68A-866D-4FCB-B0A8-795032A185AF}"/>
              </a:ext>
            </a:extLst>
          </p:cNvPr>
          <p:cNvSpPr>
            <a:spLocks noGrp="1"/>
          </p:cNvSpPr>
          <p:nvPr/>
        </p:nvSpPr>
        <p:spPr>
          <a:xfrm>
            <a:off x="6953250" y="2152650"/>
            <a:ext cx="461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配置刷新间隔和逐源自动入库</a:t>
            </a:r>
          </a:p>
        </p:txBody>
      </p:sp>
      <p:sp>
        <p:nvSpPr>
          <p:cNvPr id="10" name="an2_item2_num">
            <a:extLst>
              <a:ext uri="{FF2B5EF4-FFF2-40B4-BE49-F238E27FC236}">
                <a16:creationId xmlns:a16="http://schemas.microsoft.com/office/drawing/2014/main" id="{9677CEED-BD73-46AA-8956-447F727CE8FE}"/>
              </a:ext>
            </a:extLst>
          </p:cNvPr>
          <p:cNvSpPr>
            <a:spLocks noGrp="1"/>
          </p:cNvSpPr>
          <p:nvPr/>
        </p:nvSpPr>
        <p:spPr>
          <a:xfrm>
            <a:off x="6191250" y="31242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n2_item2_title">
            <a:extLst>
              <a:ext uri="{FF2B5EF4-FFF2-40B4-BE49-F238E27FC236}">
                <a16:creationId xmlns:a16="http://schemas.microsoft.com/office/drawing/2014/main" id="{18597AFF-6C94-4E35-ADE4-3A39B34305FE}"/>
              </a:ext>
            </a:extLst>
          </p:cNvPr>
          <p:cNvSpPr>
            <a:spLocks noGrp="1"/>
          </p:cNvSpPr>
          <p:nvPr/>
        </p:nvSpPr>
        <p:spPr>
          <a:xfrm>
            <a:off x="6953250" y="312420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浏览与阅读条目</a:t>
            </a:r>
          </a:p>
        </p:txBody>
      </p:sp>
      <p:sp>
        <p:nvSpPr>
          <p:cNvPr id="12" name="an2_item2_body">
            <a:extLst>
              <a:ext uri="{FF2B5EF4-FFF2-40B4-BE49-F238E27FC236}">
                <a16:creationId xmlns:a16="http://schemas.microsoft.com/office/drawing/2014/main" id="{E311298F-1523-4D83-BCFB-9D454A462DCD}"/>
              </a:ext>
            </a:extLst>
          </p:cNvPr>
          <p:cNvSpPr>
            <a:spLocks noGrp="1"/>
          </p:cNvSpPr>
          <p:nvPr/>
        </p:nvSpPr>
        <p:spPr>
          <a:xfrm>
            <a:off x="6953250" y="3657600"/>
            <a:ext cx="461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查看正文或摘要，保存阅读状态</a:t>
            </a:r>
          </a:p>
        </p:txBody>
      </p:sp>
      <p:sp>
        <p:nvSpPr>
          <p:cNvPr id="13" name="an3_item3_num">
            <a:extLst>
              <a:ext uri="{FF2B5EF4-FFF2-40B4-BE49-F238E27FC236}">
                <a16:creationId xmlns:a16="http://schemas.microsoft.com/office/drawing/2014/main" id="{8F10237A-1D18-4E5E-A91D-D5F1D820EFE4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an3_item3_title">
            <a:extLst>
              <a:ext uri="{FF2B5EF4-FFF2-40B4-BE49-F238E27FC236}">
                <a16:creationId xmlns:a16="http://schemas.microsoft.com/office/drawing/2014/main" id="{A33AE4E5-C610-446C-913D-6F4B038C2079}"/>
              </a:ext>
            </a:extLst>
          </p:cNvPr>
          <p:cNvSpPr>
            <a:spLocks noGrp="1"/>
          </p:cNvSpPr>
          <p:nvPr/>
        </p:nvSpPr>
        <p:spPr>
          <a:xfrm>
            <a:off x="6953250" y="4629150"/>
            <a:ext cx="4610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衔接文献入库</a:t>
            </a:r>
          </a:p>
        </p:txBody>
      </p:sp>
      <p:sp>
        <p:nvSpPr>
          <p:cNvPr id="15" name="an3_item3_body">
            <a:extLst>
              <a:ext uri="{FF2B5EF4-FFF2-40B4-BE49-F238E27FC236}">
                <a16:creationId xmlns:a16="http://schemas.microsoft.com/office/drawing/2014/main" id="{5452DBE0-8F72-4159-BEE1-909293A7F284}"/>
              </a:ext>
            </a:extLst>
          </p:cNvPr>
          <p:cNvSpPr>
            <a:spLocks noGrp="1"/>
          </p:cNvSpPr>
          <p:nvPr/>
        </p:nvSpPr>
        <p:spPr>
          <a:xfrm>
            <a:off x="6953250" y="5162550"/>
            <a:ext cx="46101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手动入库，或启用来源自动入库</a:t>
            </a:r>
          </a:p>
        </p:txBody>
      </p:sp>
    </p:spTree>
    <p:extLst>
      <p:ext uri="{BB962C8B-B14F-4D97-AF65-F5344CB8AC3E}">
        <p14:creationId xmlns:p14="http://schemas.microsoft.com/office/powerpoint/2010/main" val="20102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5A8973A3-E309-4354-94E0-317D7BC324E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文献库、阅读与批注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8ACB2E22-CE18-4D7E-A1E7-17ED4DFE444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3CE6CA6-B8A6-47FC-AA96-A4DC5A588F1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23">
            <a:extLst>
              <a:ext uri="{FF2B5EF4-FFF2-40B4-BE49-F238E27FC236}">
                <a16:creationId xmlns:a16="http://schemas.microsoft.com/office/drawing/2014/main" id="{0558D0F0-276A-4A43-B355-51D83887E7DB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一篇论文，贯穿收集、理解与后续写作</a:t>
            </a:r>
          </a:p>
        </p:txBody>
      </p:sp>
      <p:sp>
        <p:nvSpPr>
          <p:cNvPr id="5" name="text-24">
            <a:extLst>
              <a:ext uri="{FF2B5EF4-FFF2-40B4-BE49-F238E27FC236}">
                <a16:creationId xmlns:a16="http://schemas.microsoft.com/office/drawing/2014/main" id="{139061DA-C24A-4E29-970E-BC68FF1C6681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25">
            <a:extLst>
              <a:ext uri="{FF2B5EF4-FFF2-40B4-BE49-F238E27FC236}">
                <a16:creationId xmlns:a16="http://schemas.microsoft.com/office/drawing/2014/main" id="{AB4DFE99-3337-44D1-9988-53089B3789F9}"/>
              </a:ext>
            </a:extLst>
          </p:cNvPr>
          <p:cNvSpPr>
            <a:spLocks noGrp="1"/>
          </p:cNvSpPr>
          <p:nvPr/>
        </p:nvSpPr>
        <p:spPr>
          <a:xfrm>
            <a:off x="1514475" y="25336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导入与整理</a:t>
            </a:r>
          </a:p>
        </p:txBody>
      </p:sp>
      <p:sp>
        <p:nvSpPr>
          <p:cNvPr id="7" name="text-26">
            <a:extLst>
              <a:ext uri="{FF2B5EF4-FFF2-40B4-BE49-F238E27FC236}">
                <a16:creationId xmlns:a16="http://schemas.microsoft.com/office/drawing/2014/main" id="{1F32D13A-7C70-4590-A880-A70413F69D4A}"/>
              </a:ext>
            </a:extLst>
          </p:cNvPr>
          <p:cNvSpPr>
            <a:spLocks noGrp="1"/>
          </p:cNvSpPr>
          <p:nvPr/>
        </p:nvSpPr>
        <p:spPr>
          <a:xfrm>
            <a:off x="4276725" y="2533650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PDF、DOI、BibTeX；标签与属性</a:t>
            </a:r>
          </a:p>
        </p:txBody>
      </p:sp>
      <p:sp>
        <p:nvSpPr>
          <p:cNvPr id="8" name="rule-27">
            <a:extLst>
              <a:ext uri="{FF2B5EF4-FFF2-40B4-BE49-F238E27FC236}">
                <a16:creationId xmlns:a16="http://schemas.microsoft.com/office/drawing/2014/main" id="{E35DC0D7-1AB4-49DA-842F-ACDF630EB8FD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an1_litnum1">
            <a:extLst>
              <a:ext uri="{FF2B5EF4-FFF2-40B4-BE49-F238E27FC236}">
                <a16:creationId xmlns:a16="http://schemas.microsoft.com/office/drawing/2014/main" id="{73525603-FA8F-4E13-AF96-342E63149A2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an1_littitle1">
            <a:extLst>
              <a:ext uri="{FF2B5EF4-FFF2-40B4-BE49-F238E27FC236}">
                <a16:creationId xmlns:a16="http://schemas.microsoft.com/office/drawing/2014/main" id="{BA75D9B1-DC4D-4B9D-8072-37B2865DFA2D}"/>
              </a:ext>
            </a:extLst>
          </p:cNvPr>
          <p:cNvSpPr>
            <a:spLocks noGrp="1"/>
          </p:cNvSpPr>
          <p:nvPr/>
        </p:nvSpPr>
        <p:spPr>
          <a:xfrm>
            <a:off x="1514475" y="34290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阅读</a:t>
            </a:r>
            <a:r>
              <a:rPr sz="2400" b="1" dirty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 PDF</a:t>
            </a:r>
          </a:p>
        </p:txBody>
      </p:sp>
      <p:sp>
        <p:nvSpPr>
          <p:cNvPr id="11" name="an1_litbody1">
            <a:extLst>
              <a:ext uri="{FF2B5EF4-FFF2-40B4-BE49-F238E27FC236}">
                <a16:creationId xmlns:a16="http://schemas.microsoft.com/office/drawing/2014/main" id="{D3276CBC-B62D-4CA0-A5C9-C16BBA969D1A}"/>
              </a:ext>
            </a:extLst>
          </p:cNvPr>
          <p:cNvSpPr>
            <a:spLocks noGrp="1"/>
          </p:cNvSpPr>
          <p:nvPr/>
        </p:nvSpPr>
        <p:spPr>
          <a:xfrm>
            <a:off x="4276725" y="3429000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翻页、搜索、缩放；恢复阅读位置</a:t>
            </a:r>
          </a:p>
        </p:txBody>
      </p:sp>
      <p:sp>
        <p:nvSpPr>
          <p:cNvPr id="12" name="rule-28">
            <a:extLst>
              <a:ext uri="{FF2B5EF4-FFF2-40B4-BE49-F238E27FC236}">
                <a16:creationId xmlns:a16="http://schemas.microsoft.com/office/drawing/2014/main" id="{46867EAB-145F-413A-B341-C3EB40D3886E}"/>
              </a:ext>
            </a:extLst>
          </p:cNvPr>
          <p:cNvSpPr>
            <a:spLocks noGrp="1"/>
          </p:cNvSpPr>
          <p:nvPr/>
        </p:nvSpPr>
        <p:spPr>
          <a:xfrm>
            <a:off x="1504950" y="407670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an2_litnum2">
            <a:extLst>
              <a:ext uri="{FF2B5EF4-FFF2-40B4-BE49-F238E27FC236}">
                <a16:creationId xmlns:a16="http://schemas.microsoft.com/office/drawing/2014/main" id="{E51C7FD5-EF7D-4A77-ACC0-EA419DC1DA3F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an2_littitle2">
            <a:extLst>
              <a:ext uri="{FF2B5EF4-FFF2-40B4-BE49-F238E27FC236}">
                <a16:creationId xmlns:a16="http://schemas.microsoft.com/office/drawing/2014/main" id="{DBE116EC-050F-4277-9E13-832D547FB50F}"/>
              </a:ext>
            </a:extLst>
          </p:cNvPr>
          <p:cNvSpPr>
            <a:spLocks noGrp="1"/>
          </p:cNvSpPr>
          <p:nvPr/>
        </p:nvSpPr>
        <p:spPr>
          <a:xfrm>
            <a:off x="1514475" y="43243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记录批注</a:t>
            </a:r>
          </a:p>
        </p:txBody>
      </p:sp>
      <p:sp>
        <p:nvSpPr>
          <p:cNvPr id="15" name="an2_litbody2">
            <a:extLst>
              <a:ext uri="{FF2B5EF4-FFF2-40B4-BE49-F238E27FC236}">
                <a16:creationId xmlns:a16="http://schemas.microsoft.com/office/drawing/2014/main" id="{28750E1D-107F-4487-806D-93BF3666C8C5}"/>
              </a:ext>
            </a:extLst>
          </p:cNvPr>
          <p:cNvSpPr>
            <a:spLocks noGrp="1"/>
          </p:cNvSpPr>
          <p:nvPr/>
        </p:nvSpPr>
        <p:spPr>
          <a:xfrm>
            <a:off x="4276725" y="4324350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高亮原文，写下自己的理解</a:t>
            </a:r>
          </a:p>
        </p:txBody>
      </p:sp>
      <p:sp>
        <p:nvSpPr>
          <p:cNvPr id="16" name="rule-29">
            <a:extLst>
              <a:ext uri="{FF2B5EF4-FFF2-40B4-BE49-F238E27FC236}">
                <a16:creationId xmlns:a16="http://schemas.microsoft.com/office/drawing/2014/main" id="{9C86E481-0C24-4E61-ADF0-FAEA89C1B5E9}"/>
              </a:ext>
            </a:extLst>
          </p:cNvPr>
          <p:cNvSpPr>
            <a:spLocks noGrp="1"/>
          </p:cNvSpPr>
          <p:nvPr/>
        </p:nvSpPr>
        <p:spPr>
          <a:xfrm>
            <a:off x="1504950" y="4972050"/>
            <a:ext cx="9906000" cy="14288"/>
          </a:xfrm>
          <a:prstGeom prst="rect">
            <a:avLst/>
          </a:prstGeom>
          <a:solidFill>
            <a:srgbClr val="E6E9F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n3_litnum3">
            <a:extLst>
              <a:ext uri="{FF2B5EF4-FFF2-40B4-BE49-F238E27FC236}">
                <a16:creationId xmlns:a16="http://schemas.microsoft.com/office/drawing/2014/main" id="{9901E99F-3A95-45A0-B488-4CE1862FCC2D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an3_littitle3">
            <a:extLst>
              <a:ext uri="{FF2B5EF4-FFF2-40B4-BE49-F238E27FC236}">
                <a16:creationId xmlns:a16="http://schemas.microsoft.com/office/drawing/2014/main" id="{82C9BD80-E196-4E3C-98B3-970FC461B05F}"/>
              </a:ext>
            </a:extLst>
          </p:cNvPr>
          <p:cNvSpPr>
            <a:spLocks noGrp="1"/>
          </p:cNvSpPr>
          <p:nvPr/>
        </p:nvSpPr>
        <p:spPr>
          <a:xfrm>
            <a:off x="1514475" y="52197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回到原文</a:t>
            </a:r>
          </a:p>
        </p:txBody>
      </p:sp>
      <p:sp>
        <p:nvSpPr>
          <p:cNvPr id="19" name="an3_litbody3">
            <a:extLst>
              <a:ext uri="{FF2B5EF4-FFF2-40B4-BE49-F238E27FC236}">
                <a16:creationId xmlns:a16="http://schemas.microsoft.com/office/drawing/2014/main" id="{5C6034EF-7386-4175-9E95-67356F6F5DCE}"/>
              </a:ext>
            </a:extLst>
          </p:cNvPr>
          <p:cNvSpPr>
            <a:spLocks noGrp="1"/>
          </p:cNvSpPr>
          <p:nvPr/>
        </p:nvSpPr>
        <p:spPr>
          <a:xfrm>
            <a:off x="4276725" y="5219700"/>
            <a:ext cx="714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从批注返回对应位置，核对上下文</a:t>
            </a:r>
          </a:p>
        </p:txBody>
      </p:sp>
    </p:spTree>
    <p:extLst>
      <p:ext uri="{BB962C8B-B14F-4D97-AF65-F5344CB8AC3E}">
        <p14:creationId xmlns:p14="http://schemas.microsoft.com/office/powerpoint/2010/main" val="1864810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B5193D15-3ED7-470A-985D-75C83BA362A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日程和提醒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C0A95309-FC31-4C57-ABB4-D479D0B0F7B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095A5FC-EEF0-4E69-B59C-6EEC5AD4C5F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30">
            <a:extLst>
              <a:ext uri="{FF2B5EF4-FFF2-40B4-BE49-F238E27FC236}">
                <a16:creationId xmlns:a16="http://schemas.microsoft.com/office/drawing/2014/main" id="{6CCBD988-6F90-4F97-9123-9572B9C9728A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让时间安排连接到具体的研究内容</a:t>
            </a:r>
          </a:p>
        </p:txBody>
      </p:sp>
      <p:sp>
        <p:nvSpPr>
          <p:cNvPr id="5" name="text-31">
            <a:extLst>
              <a:ext uri="{FF2B5EF4-FFF2-40B4-BE49-F238E27FC236}">
                <a16:creationId xmlns:a16="http://schemas.microsoft.com/office/drawing/2014/main" id="{69E88B21-16EE-4DF8-B4A4-F4DBC256A318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示例：学生的学术调研安排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09600" y="2867025"/>
          <a:ext cx="10972800" cy="2514600"/>
        </p:xfrm>
        <a:graphic>
          <a:graphicData uri="http://schemas.openxmlformats.org/drawingml/2006/table">
            <a:tbl>
              <a:tblPr/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相关内容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截止日期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精读论文 A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原文与阅读批注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24 日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比较方法与局限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论文与比较笔记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26 日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整理调研初稿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调研报告草稿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 28 日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n1_reminder-rule">
            <a:extLst>
              <a:ext uri="{FF2B5EF4-FFF2-40B4-BE49-F238E27FC236}">
                <a16:creationId xmlns:a16="http://schemas.microsoft.com/office/drawing/2014/main" id="{03942287-1FD2-4D47-93FA-432EBE36AA33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提醒在应用运行期间触发；重开后不补发错过的时刻</a:t>
            </a:r>
          </a:p>
        </p:txBody>
      </p:sp>
    </p:spTree>
    <p:extLst>
      <p:ext uri="{BB962C8B-B14F-4D97-AF65-F5344CB8AC3E}">
        <p14:creationId xmlns:p14="http://schemas.microsoft.com/office/powerpoint/2010/main" val="65797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50CB493A-3E5E-4E91-B216-13275D1EC16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知识库、编辑、引用和同步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78E3BEA0-D1CD-4186-B7C9-A7ECB1923E8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主要功能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4C4E89C-4BD2-4EF8-BD45-DC433A29CEFE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2">
            <a:extLst>
              <a:ext uri="{FF2B5EF4-FFF2-40B4-BE49-F238E27FC236}">
                <a16:creationId xmlns:a16="http://schemas.microsoft.com/office/drawing/2014/main" id="{4C7D2735-8436-4873-A383-72ED4079DEAE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文献、批注、任务和日程，都以页面组织</a:t>
            </a:r>
          </a:p>
        </p:txBody>
      </p:sp>
      <p:sp>
        <p:nvSpPr>
          <p:cNvPr id="5" name="text-33">
            <a:extLst>
              <a:ext uri="{FF2B5EF4-FFF2-40B4-BE49-F238E27FC236}">
                <a16:creationId xmlns:a16="http://schemas.microsoft.com/office/drawing/2014/main" id="{AA975B35-E448-408B-A47E-AA69F46B1F01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统一页面</a:t>
            </a: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71D4A243-A9B3-452B-BEB4-D39C32233621}"/>
              </a:ext>
            </a:extLst>
          </p:cNvPr>
          <p:cNvSpPr>
            <a:spLocks noGrp="1"/>
          </p:cNvSpPr>
          <p:nvPr/>
        </p:nvSpPr>
        <p:spPr>
          <a:xfrm>
            <a:off x="609600" y="3629025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正文、属性和标签</a:t>
            </a: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共同组织研究内容</a:t>
            </a:r>
          </a:p>
          <a:p>
            <a:endParaRPr sz="2175" b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文献库与日历</a:t>
            </a: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呈现同一份数据</a:t>
            </a:r>
          </a:p>
        </p:txBody>
      </p:sp>
      <p:sp>
        <p:nvSpPr>
          <p:cNvPr id="7" name="an1_knowledge-head1">
            <a:extLst>
              <a:ext uri="{FF2B5EF4-FFF2-40B4-BE49-F238E27FC236}">
                <a16:creationId xmlns:a16="http://schemas.microsoft.com/office/drawing/2014/main" id="{15B75C99-DCA8-43B3-BA4A-0CC7A802845C}"/>
              </a:ext>
            </a:extLst>
          </p:cNvPr>
          <p:cNvSpPr>
            <a:spLocks noGrp="1"/>
          </p:cNvSpPr>
          <p:nvPr/>
        </p:nvSpPr>
        <p:spPr>
          <a:xfrm>
            <a:off x="4343400" y="2705100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引用</a:t>
            </a:r>
          </a:p>
        </p:txBody>
      </p:sp>
      <p:sp>
        <p:nvSpPr>
          <p:cNvPr id="8" name="an1_knowledge-desc1">
            <a:extLst>
              <a:ext uri="{FF2B5EF4-FFF2-40B4-BE49-F238E27FC236}">
                <a16:creationId xmlns:a16="http://schemas.microsoft.com/office/drawing/2014/main" id="{7ACD5D5F-78C4-49D5-B89D-52EABB97A1D3}"/>
              </a:ext>
            </a:extLst>
          </p:cNvPr>
          <p:cNvSpPr>
            <a:spLocks noGrp="1"/>
          </p:cNvSpPr>
          <p:nvPr/>
        </p:nvSpPr>
        <p:spPr>
          <a:xfrm>
            <a:off x="4343400" y="3629025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指向页面或块</a:t>
            </a: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显示只读预览</a:t>
            </a:r>
          </a:p>
          <a:p>
            <a:endParaRPr sz="2175" b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保留目标入口</a:t>
            </a: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随时打开并回查</a:t>
            </a:r>
          </a:p>
        </p:txBody>
      </p:sp>
      <p:sp>
        <p:nvSpPr>
          <p:cNvPr id="9" name="an2_knowledge-head2">
            <a:extLst>
              <a:ext uri="{FF2B5EF4-FFF2-40B4-BE49-F238E27FC236}">
                <a16:creationId xmlns:a16="http://schemas.microsoft.com/office/drawing/2014/main" id="{705F1B93-1E32-4617-AB7E-C8C570014E74}"/>
              </a:ext>
            </a:extLst>
          </p:cNvPr>
          <p:cNvSpPr>
            <a:spLocks noGrp="1"/>
          </p:cNvSpPr>
          <p:nvPr/>
        </p:nvSpPr>
        <p:spPr>
          <a:xfrm>
            <a:off x="8077200" y="2705100"/>
            <a:ext cx="35052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同步块</a:t>
            </a:r>
          </a:p>
        </p:txBody>
      </p:sp>
      <p:sp>
        <p:nvSpPr>
          <p:cNvPr id="10" name="an2_knowledge-desc2">
            <a:extLst>
              <a:ext uri="{FF2B5EF4-FFF2-40B4-BE49-F238E27FC236}">
                <a16:creationId xmlns:a16="http://schemas.microsoft.com/office/drawing/2014/main" id="{D23E8267-31A3-4FF4-B7AC-D95A586C2587}"/>
              </a:ext>
            </a:extLst>
          </p:cNvPr>
          <p:cNvSpPr>
            <a:spLocks noGrp="1"/>
          </p:cNvSpPr>
          <p:nvPr/>
        </p:nvSpPr>
        <p:spPr>
          <a:xfrm>
            <a:off x="8077200" y="3629025"/>
            <a:ext cx="3505200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多处使用同一块</a:t>
            </a: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内容保持一致</a:t>
            </a:r>
          </a:p>
          <a:p>
            <a:endParaRPr sz="2175" b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在可写位置修改</a:t>
            </a:r>
          </a:p>
          <a:p>
            <a:pPr>
              <a:def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其他位置同步更新</a:t>
            </a:r>
          </a:p>
        </p:txBody>
      </p:sp>
      <p:sp>
        <p:nvSpPr>
          <p:cNvPr id="11" name="an3_shared-example">
            <a:extLst>
              <a:ext uri="{FF2B5EF4-FFF2-40B4-BE49-F238E27FC236}">
                <a16:creationId xmlns:a16="http://schemas.microsoft.com/office/drawing/2014/main" id="{D19833D3-AED3-407C-ADB1-036265773EF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示例：同一条分析同时用于阅读笔记和调研草稿</a:t>
            </a:r>
          </a:p>
        </p:txBody>
      </p:sp>
    </p:spTree>
    <p:extLst>
      <p:ext uri="{BB962C8B-B14F-4D97-AF65-F5344CB8AC3E}">
        <p14:creationId xmlns:p14="http://schemas.microsoft.com/office/powerpoint/2010/main" val="432826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A1909A0C-0970-4BEF-BCD4-18D26274C6A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性能预期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3BDAF0D0-9A60-43AE-AB75-20A232AB21F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A5CA0F6-B1A4-4E54-9047-1F253D2797F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35">
            <a:extLst>
              <a:ext uri="{FF2B5EF4-FFF2-40B4-BE49-F238E27FC236}">
                <a16:creationId xmlns:a16="http://schemas.microsoft.com/office/drawing/2014/main" id="{D3C8345E-1F6A-4FCB-90A8-F3B177679EF4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5905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拟定验收目标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2076450"/>
          <a:ext cx="10972800" cy="3371850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验收条件</a:t>
                      </a:r>
                    </a:p>
                  </a:txBody>
                  <a:tcPr marL="171450" marR="133350" marT="114300" marB="95250" anchor="ctr">
                    <a:solidFill>
                      <a:srgbClr val="202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冷启动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启动至可操作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标签页切换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≤ 300 ms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切换已打开的标签页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全局搜索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≤ 1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索引就绪，返回首批结果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自动保存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 s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常规编辑停止后，存储正常</a:t>
                      </a:r>
                    </a:p>
                  </a:txBody>
                  <a:tcPr marL="171450" marR="133350" marT="114300" marB="95250" anchor="ctr">
                    <a:solidFill>
                      <a:srgbClr val="F0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首屏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3 s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本地含文本 PDF，100 页且 ≤50 MB</a:t>
                      </a:r>
                    </a:p>
                  </a:txBody>
                  <a:tcPr marL="17145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-36">
            <a:extLst>
              <a:ext uri="{FF2B5EF4-FFF2-40B4-BE49-F238E27FC236}">
                <a16:creationId xmlns:a16="http://schemas.microsoft.com/office/drawing/2014/main" id="{FB41C72F-3205-49F6-8EDF-56C9FF1E1AED}"/>
              </a:ext>
            </a:extLst>
          </p:cNvPr>
          <p:cNvSpPr>
            <a:spLocks noGrp="1"/>
          </p:cNvSpPr>
          <p:nvPr/>
        </p:nvSpPr>
        <p:spPr>
          <a:xfrm>
            <a:off x="609600" y="56102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基准：4 核 CPU、8 GB 内存、SSD。容量：1 万页面、10 万块、10 万订阅条目。</a:t>
            </a:r>
          </a:p>
        </p:txBody>
      </p:sp>
      <p:sp>
        <p:nvSpPr>
          <p:cNvPr id="7" name="text-37">
            <a:extLst>
              <a:ext uri="{FF2B5EF4-FFF2-40B4-BE49-F238E27FC236}">
                <a16:creationId xmlns:a16="http://schemas.microsoft.com/office/drawing/2014/main" id="{D8ABEAA4-5BC6-4263-8BF5-43A14A3AC8D5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完整容量还含 100 来源、1 万附件 / 10 GB，并恢复 20 个标签页；P95 表示 95% 的样本不超过目标。</a:t>
            </a:r>
          </a:p>
        </p:txBody>
      </p:sp>
    </p:spTree>
    <p:extLst>
      <p:ext uri="{BB962C8B-B14F-4D97-AF65-F5344CB8AC3E}">
        <p14:creationId xmlns:p14="http://schemas.microsoft.com/office/powerpoint/2010/main" val="1958363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5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211E9ABC-DE47-4C42-ACBE-656566153EF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73787C03-00A3-4BA8-8D1D-D5E73F0A4AF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7577729-14CB-467D-942D-23A0D7E3AF8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8">
            <a:extLst>
              <a:ext uri="{FF2B5EF4-FFF2-40B4-BE49-F238E27FC236}">
                <a16:creationId xmlns:a16="http://schemas.microsoft.com/office/drawing/2014/main" id="{69D31E8A-27F8-4A72-8804-FC74244B8632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保存状态可信，故障发生后仍有安全退路</a:t>
            </a:r>
          </a:p>
        </p:txBody>
      </p:sp>
      <p:sp>
        <p:nvSpPr>
          <p:cNvPr id="5" name="an1_item1_num">
            <a:extLst>
              <a:ext uri="{FF2B5EF4-FFF2-40B4-BE49-F238E27FC236}">
                <a16:creationId xmlns:a16="http://schemas.microsoft.com/office/drawing/2014/main" id="{56C31A2F-68D1-412F-84BF-C0DBB8BA960D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n1_item1_title">
            <a:extLst>
              <a:ext uri="{FF2B5EF4-FFF2-40B4-BE49-F238E27FC236}">
                <a16:creationId xmlns:a16="http://schemas.microsoft.com/office/drawing/2014/main" id="{D0AD369D-6440-4F6D-9BF7-A1065B17209B}"/>
              </a:ext>
            </a:extLst>
          </p:cNvPr>
          <p:cNvSpPr>
            <a:spLocks noGrp="1"/>
          </p:cNvSpPr>
          <p:nvPr/>
        </p:nvSpPr>
        <p:spPr>
          <a:xfrm>
            <a:off x="1371600" y="2419350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保存与实际状态一致</a:t>
            </a:r>
          </a:p>
        </p:txBody>
      </p:sp>
      <p:sp>
        <p:nvSpPr>
          <p:cNvPr id="7" name="an1_item1_body">
            <a:extLst>
              <a:ext uri="{FF2B5EF4-FFF2-40B4-BE49-F238E27FC236}">
                <a16:creationId xmlns:a16="http://schemas.microsoft.com/office/drawing/2014/main" id="{F7039C99-704C-4E15-9E80-7E6CCA77860D}"/>
              </a:ext>
            </a:extLst>
          </p:cNvPr>
          <p:cNvSpPr>
            <a:spLocks noGrp="1"/>
          </p:cNvSpPr>
          <p:nvPr/>
        </p:nvSpPr>
        <p:spPr>
          <a:xfrm>
            <a:off x="1371600" y="2952750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提交成功才显示已保存；失败保留输入并明确提示</a:t>
            </a:r>
          </a:p>
        </p:txBody>
      </p:sp>
      <p:sp>
        <p:nvSpPr>
          <p:cNvPr id="8" name="an2_item2_num">
            <a:extLst>
              <a:ext uri="{FF2B5EF4-FFF2-40B4-BE49-F238E27FC236}">
                <a16:creationId xmlns:a16="http://schemas.microsoft.com/office/drawing/2014/main" id="{45FE076F-8B23-499B-9A6C-193F220FABD2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n2_item2_title">
            <a:extLst>
              <a:ext uri="{FF2B5EF4-FFF2-40B4-BE49-F238E27FC236}">
                <a16:creationId xmlns:a16="http://schemas.microsoft.com/office/drawing/2014/main" id="{A7D557CD-4A45-4013-90B6-2F0B0C657587}"/>
              </a:ext>
            </a:extLst>
          </p:cNvPr>
          <p:cNvSpPr>
            <a:spLocks noGrp="1"/>
          </p:cNvSpPr>
          <p:nvPr/>
        </p:nvSpPr>
        <p:spPr>
          <a:xfrm>
            <a:off x="1371600" y="3686175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失败影响范围可控</a:t>
            </a:r>
          </a:p>
        </p:txBody>
      </p:sp>
      <p:sp>
        <p:nvSpPr>
          <p:cNvPr id="10" name="an2_item2_body">
            <a:extLst>
              <a:ext uri="{FF2B5EF4-FFF2-40B4-BE49-F238E27FC236}">
                <a16:creationId xmlns:a16="http://schemas.microsoft.com/office/drawing/2014/main" id="{7CF3D13A-4A32-44FC-9C9D-375E2E5881D3}"/>
              </a:ext>
            </a:extLst>
          </p:cNvPr>
          <p:cNvSpPr>
            <a:spLocks noGrp="1"/>
          </p:cNvSpPr>
          <p:nvPr/>
        </p:nvSpPr>
        <p:spPr>
          <a:xfrm>
            <a:off x="1371600" y="4219575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单项失败独立报告；跨标签页操作校验共享状态</a:t>
            </a:r>
          </a:p>
        </p:txBody>
      </p:sp>
      <p:sp>
        <p:nvSpPr>
          <p:cNvPr id="11" name="an3_item3_num">
            <a:extLst>
              <a:ext uri="{FF2B5EF4-FFF2-40B4-BE49-F238E27FC236}">
                <a16:creationId xmlns:a16="http://schemas.microsoft.com/office/drawing/2014/main" id="{39ED0FE9-4B13-4E7C-8599-A1278411DFCB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619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an3_item3_title">
            <a:extLst>
              <a:ext uri="{FF2B5EF4-FFF2-40B4-BE49-F238E27FC236}">
                <a16:creationId xmlns:a16="http://schemas.microsoft.com/office/drawing/2014/main" id="{7A5108CB-6D6B-422F-B163-2429E1EC3954}"/>
              </a:ext>
            </a:extLst>
          </p:cNvPr>
          <p:cNvSpPr>
            <a:spLocks noGrp="1"/>
          </p:cNvSpPr>
          <p:nvPr/>
        </p:nvSpPr>
        <p:spPr>
          <a:xfrm>
            <a:off x="1371600" y="4953000"/>
            <a:ext cx="1021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备份和恢复保持一致</a:t>
            </a:r>
          </a:p>
        </p:txBody>
      </p:sp>
      <p:sp>
        <p:nvSpPr>
          <p:cNvPr id="13" name="an3_item3_body">
            <a:extLst>
              <a:ext uri="{FF2B5EF4-FFF2-40B4-BE49-F238E27FC236}">
                <a16:creationId xmlns:a16="http://schemas.microsoft.com/office/drawing/2014/main" id="{FC3BB36A-CC07-465E-9205-2A7E00CE3AD0}"/>
              </a:ext>
            </a:extLst>
          </p:cNvPr>
          <p:cNvSpPr>
            <a:spLocks noGrp="1"/>
          </p:cNvSpPr>
          <p:nvPr/>
        </p:nvSpPr>
        <p:spPr>
          <a:xfrm>
            <a:off x="1371600" y="5486400"/>
            <a:ext cx="10210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数据库与附件共同校验；恢复失败保留原工作区</a:t>
            </a:r>
          </a:p>
        </p:txBody>
      </p:sp>
    </p:spTree>
    <p:extLst>
      <p:ext uri="{BB962C8B-B14F-4D97-AF65-F5344CB8AC3E}">
        <p14:creationId xmlns:p14="http://schemas.microsoft.com/office/powerpoint/2010/main" val="310372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67318283-742F-41B5-B9EE-371C65F29AF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隐私和数据保护</a:t>
            </a: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B39F9EE-FE80-4C0A-BB9C-57B81074690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开发预期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BE3FB04-CE9D-4C1C-AAF8-15D2988FD038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an1_privacy-heading">
            <a:extLst>
              <a:ext uri="{FF2B5EF4-FFF2-40B4-BE49-F238E27FC236}">
                <a16:creationId xmlns:a16="http://schemas.microsoft.com/office/drawing/2014/main" id="{1AB63B89-F321-4C4F-BD05-BA0F390D4613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5652BD"/>
                </a:solidFill>
                <a:latin typeface="Microsoft YaHei"/>
                <a:ea typeface="Microsoft YaHei"/>
                <a:cs typeface="Microsoft YaHei"/>
              </a:rPr>
              <a:t>本地与隐私</a:t>
            </a:r>
          </a:p>
        </p:txBody>
      </p:sp>
      <p:sp>
        <p:nvSpPr>
          <p:cNvPr id="5" name="an1_privacy-body">
            <a:extLst>
              <a:ext uri="{FF2B5EF4-FFF2-40B4-BE49-F238E27FC236}">
                <a16:creationId xmlns:a16="http://schemas.microsoft.com/office/drawing/2014/main" id="{C555AAFD-2239-4708-840F-0DEAB698F0CA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5191125" cy="170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工作区保存在本地</a:t>
            </a:r>
          </a:p>
          <a:p>
            <a:pPr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不采集遥测，不上传研究正文</a:t>
            </a:r>
          </a:p>
          <a:p>
            <a:pPr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仅进行必要或明确触发的请求</a:t>
            </a:r>
          </a:p>
        </p:txBody>
      </p:sp>
      <p:sp>
        <p:nvSpPr>
          <p:cNvPr id="6" name="an2_data-heading">
            <a:extLst>
              <a:ext uri="{FF2B5EF4-FFF2-40B4-BE49-F238E27FC236}">
                <a16:creationId xmlns:a16="http://schemas.microsoft.com/office/drawing/2014/main" id="{A78521CE-8345-453D-8D76-B335F8533BEC}"/>
              </a:ext>
            </a:extLst>
          </p:cNvPr>
          <p:cNvSpPr>
            <a:spLocks noGrp="1"/>
          </p:cNvSpPr>
          <p:nvPr/>
        </p:nvSpPr>
        <p:spPr>
          <a:xfrm>
            <a:off x="6629400" y="194310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7E87"/>
                </a:solidFill>
                <a:latin typeface="Microsoft YaHei"/>
                <a:ea typeface="Microsoft YaHei"/>
                <a:cs typeface="Microsoft YaHei"/>
              </a:rPr>
              <a:t>导出与恢复</a:t>
            </a:r>
          </a:p>
        </p:txBody>
      </p:sp>
      <p:sp>
        <p:nvSpPr>
          <p:cNvPr id="7" name="an2_data-body">
            <a:extLst>
              <a:ext uri="{FF2B5EF4-FFF2-40B4-BE49-F238E27FC236}">
                <a16:creationId xmlns:a16="http://schemas.microsoft.com/office/drawing/2014/main" id="{D7F794B5-DAD5-4095-B547-DA91AF2A9BC5}"/>
              </a:ext>
            </a:extLst>
          </p:cNvPr>
          <p:cNvSpPr>
            <a:spLocks noGrp="1"/>
          </p:cNvSpPr>
          <p:nvPr/>
        </p:nvSpPr>
        <p:spPr>
          <a:xfrm>
            <a:off x="6629400" y="3057525"/>
            <a:ext cx="4953000" cy="170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Markdown 与附件便携导出</a:t>
            </a:r>
          </a:p>
          <a:p>
            <a:pPr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完整备份包含数据库和附件</a:t>
            </a:r>
          </a:p>
          <a:p>
            <a:pPr>
              <a:def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危险操作展示范围并确认</a:t>
            </a:r>
          </a:p>
        </p:txBody>
      </p:sp>
    </p:spTree>
    <p:extLst>
      <p:ext uri="{BB962C8B-B14F-4D97-AF65-F5344CB8AC3E}">
        <p14:creationId xmlns:p14="http://schemas.microsoft.com/office/powerpoint/2010/main" val="1439275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AACFBEC3-880F-4475-B3BE-BEE93B99EB6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chapter-footer">
            <a:extLst>
              <a:ext uri="{FF2B5EF4-FFF2-40B4-BE49-F238E27FC236}">
                <a16:creationId xmlns:a16="http://schemas.microsoft.com/office/drawing/2014/main" id="{01EEEFEF-AE55-441C-82A3-B7F9003BF7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知织 Labloom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3AC1131-4117-44AB-986A-CA11BC5FEA36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40">
            <a:extLst>
              <a:ext uri="{FF2B5EF4-FFF2-40B4-BE49-F238E27FC236}">
                <a16:creationId xmlns:a16="http://schemas.microsoft.com/office/drawing/2014/main" id="{6AD58D39-7831-43B8-B011-80F99654AC85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5934075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让阅读所得</a:t>
            </a:r>
            <a:endParaRPr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持续参与</a:t>
            </a:r>
            <a:endParaRPr lang="en-US"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学术分析与写作</a:t>
            </a:r>
            <a:endParaRPr sz="44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an1_value-title">
            <a:extLst>
              <a:ext uri="{FF2B5EF4-FFF2-40B4-BE49-F238E27FC236}">
                <a16:creationId xmlns:a16="http://schemas.microsoft.com/office/drawing/2014/main" id="{F5287704-7F02-4F5A-A8F3-0C47F1DD1C7B}"/>
              </a:ext>
            </a:extLst>
          </p:cNvPr>
          <p:cNvSpPr>
            <a:spLocks noGrp="1"/>
          </p:cNvSpPr>
          <p:nvPr/>
        </p:nvSpPr>
        <p:spPr>
          <a:xfrm>
            <a:off x="6911950" y="1816258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rPr>
              <a:t>减少切换与搬运</a:t>
            </a:r>
          </a:p>
        </p:txBody>
      </p:sp>
      <p:sp>
        <p:nvSpPr>
          <p:cNvPr id="6" name="an1_value-body">
            <a:extLst>
              <a:ext uri="{FF2B5EF4-FFF2-40B4-BE49-F238E27FC236}">
                <a16:creationId xmlns:a16="http://schemas.microsoft.com/office/drawing/2014/main" id="{5DB8B195-47CA-4DBC-8C39-CEBE65307020}"/>
              </a:ext>
            </a:extLst>
          </p:cNvPr>
          <p:cNvSpPr>
            <a:spLocks noGrp="1"/>
          </p:cNvSpPr>
          <p:nvPr/>
        </p:nvSpPr>
        <p:spPr>
          <a:xfrm>
            <a:off x="6911950" y="2359183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阅读、记录和表达连续进行</a:t>
            </a:r>
          </a:p>
        </p:txBody>
      </p:sp>
      <p:sp>
        <p:nvSpPr>
          <p:cNvPr id="7" name="an2_value-title">
            <a:extLst>
              <a:ext uri="{FF2B5EF4-FFF2-40B4-BE49-F238E27FC236}">
                <a16:creationId xmlns:a16="http://schemas.microsoft.com/office/drawing/2014/main" id="{0D902490-2454-42D8-8BCA-CC3D053D0F09}"/>
              </a:ext>
            </a:extLst>
          </p:cNvPr>
          <p:cNvSpPr>
            <a:spLocks noGrp="1"/>
          </p:cNvSpPr>
          <p:nvPr/>
        </p:nvSpPr>
        <p:spPr>
          <a:xfrm>
            <a:off x="6911950" y="3102133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68C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8C4C9"/>
                </a:solidFill>
                <a:latin typeface="Microsoft YaHei"/>
                <a:ea typeface="Microsoft YaHei"/>
                <a:cs typeface="Microsoft YaHei"/>
              </a:rPr>
              <a:t>保留来源与上下文</a:t>
            </a:r>
          </a:p>
        </p:txBody>
      </p:sp>
      <p:sp>
        <p:nvSpPr>
          <p:cNvPr id="8" name="an2_value-body">
            <a:extLst>
              <a:ext uri="{FF2B5EF4-FFF2-40B4-BE49-F238E27FC236}">
                <a16:creationId xmlns:a16="http://schemas.microsoft.com/office/drawing/2014/main" id="{195ECCE1-0BAD-44DA-91F7-A691BECA81D4}"/>
              </a:ext>
            </a:extLst>
          </p:cNvPr>
          <p:cNvSpPr>
            <a:spLocks noGrp="1"/>
          </p:cNvSpPr>
          <p:nvPr/>
        </p:nvSpPr>
        <p:spPr>
          <a:xfrm>
            <a:off x="6911950" y="3645058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形成观点时能够回查依据</a:t>
            </a:r>
          </a:p>
        </p:txBody>
      </p:sp>
      <p:sp>
        <p:nvSpPr>
          <p:cNvPr id="9" name="an3_value-title">
            <a:extLst>
              <a:ext uri="{FF2B5EF4-FFF2-40B4-BE49-F238E27FC236}">
                <a16:creationId xmlns:a16="http://schemas.microsoft.com/office/drawing/2014/main" id="{44D7E197-24BF-4C2A-B5F3-B57F47D98F8D}"/>
              </a:ext>
            </a:extLst>
          </p:cNvPr>
          <p:cNvSpPr>
            <a:spLocks noGrp="1"/>
          </p:cNvSpPr>
          <p:nvPr/>
        </p:nvSpPr>
        <p:spPr>
          <a:xfrm>
            <a:off x="6911950" y="4388008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0B5F4"/>
                </a:solidFill>
                <a:latin typeface="Microsoft YaHei"/>
                <a:ea typeface="Microsoft YaHei"/>
                <a:cs typeface="Microsoft YaHei"/>
              </a:rPr>
              <a:t>持续复用个人积累</a:t>
            </a:r>
          </a:p>
        </p:txBody>
      </p:sp>
      <p:sp>
        <p:nvSpPr>
          <p:cNvPr id="10" name="an3_value-body">
            <a:extLst>
              <a:ext uri="{FF2B5EF4-FFF2-40B4-BE49-F238E27FC236}">
                <a16:creationId xmlns:a16="http://schemas.microsoft.com/office/drawing/2014/main" id="{51A07C13-239F-4224-9AE8-917AC0539A43}"/>
              </a:ext>
            </a:extLst>
          </p:cNvPr>
          <p:cNvSpPr>
            <a:spLocks noGrp="1"/>
          </p:cNvSpPr>
          <p:nvPr/>
        </p:nvSpPr>
        <p:spPr>
          <a:xfrm>
            <a:off x="6911950" y="4930933"/>
            <a:ext cx="4286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CEEA"/>
                </a:solidFill>
                <a:latin typeface="Microsoft YaHei"/>
                <a:ea typeface="Microsoft YaHei"/>
                <a:cs typeface="Microsoft YaHei"/>
              </a:rPr>
              <a:t>已有理解参与新的研究任务</a:t>
            </a:r>
          </a:p>
        </p:txBody>
      </p:sp>
    </p:spTree>
    <p:extLst>
      <p:ext uri="{BB962C8B-B14F-4D97-AF65-F5344CB8AC3E}">
        <p14:creationId xmlns:p14="http://schemas.microsoft.com/office/powerpoint/2010/main" val="37221187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ource-image-14">
            <a:extLst>
              <a:ext uri="{FF2B5EF4-FFF2-40B4-BE49-F238E27FC236}">
                <a16:creationId xmlns:a16="http://schemas.microsoft.com/office/drawing/2014/main" id="{E920745F-B96E-33C9-2C0D-A986C66D31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990600"/>
            <a:ext cx="2324100" cy="2324100"/>
          </a:xfrm>
          <a:prstGeom prst="rect">
            <a:avLst/>
          </a:prstGeom>
        </p:spPr>
      </p:pic>
      <p:sp>
        <p:nvSpPr>
          <p:cNvPr id="2" name="end-title">
            <a:extLst>
              <a:ext uri="{FF2B5EF4-FFF2-40B4-BE49-F238E27FC236}">
                <a16:creationId xmlns:a16="http://schemas.microsoft.com/office/drawing/2014/main" id="{50000A50-5177-480F-A7B6-D7794F1637A3}"/>
              </a:ext>
            </a:extLst>
          </p:cNvPr>
          <p:cNvSpPr>
            <a:spLocks noGrp="1"/>
          </p:cNvSpPr>
          <p:nvPr/>
        </p:nvSpPr>
        <p:spPr>
          <a:xfrm>
            <a:off x="609600" y="4310569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875" b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 dirty="0" err="1">
                <a:solidFill>
                  <a:srgbClr val="202442"/>
                </a:solidFill>
                <a:latin typeface="Microsoft YaHei"/>
                <a:ea typeface="Microsoft YaHei"/>
                <a:cs typeface="Microsoft YaHei"/>
              </a:rPr>
              <a:t>谢谢聆听</a:t>
            </a:r>
            <a:endParaRPr sz="4875" b="1" dirty="0">
              <a:solidFill>
                <a:srgbClr val="2024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end-brand">
            <a:extLst>
              <a:ext uri="{FF2B5EF4-FFF2-40B4-BE49-F238E27FC236}">
                <a16:creationId xmlns:a16="http://schemas.microsoft.com/office/drawing/2014/main" id="{E14F5B98-0FDF-4D2B-AD5D-AFE2439A674F}"/>
              </a:ext>
            </a:extLst>
          </p:cNvPr>
          <p:cNvSpPr>
            <a:spLocks noGrp="1"/>
          </p:cNvSpPr>
          <p:nvPr/>
        </p:nvSpPr>
        <p:spPr>
          <a:xfrm>
            <a:off x="609600" y="3472480"/>
            <a:ext cx="10972800" cy="5542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知织</a:t>
            </a:r>
            <a:r>
              <a:rPr sz="3200" b="0" dirty="0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0" dirty="0" err="1">
                <a:solidFill>
                  <a:srgbClr val="59627B"/>
                </a:solidFill>
                <a:latin typeface="Microsoft YaHei"/>
                <a:ea typeface="Microsoft YaHei"/>
                <a:cs typeface="Microsoft YaHei"/>
              </a:rPr>
              <a:t>Labloom</a:t>
            </a:r>
            <a:endParaRPr sz="3200" b="0" dirty="0">
              <a:solidFill>
                <a:srgbClr val="5962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83503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1272</Words>
  <Application>Microsoft Office PowerPoint</Application>
  <DocSecurity>0</DocSecurity>
  <PresentationFormat>宽屏</PresentationFormat>
  <Paragraphs>352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LJM12914</cp:lastModifiedBy>
  <cp:revision>7</cp:revision>
  <dcterms:created xsi:type="dcterms:W3CDTF">2026-09-21T15:28:10Z</dcterms:created>
  <dcterms:modified xsi:type="dcterms:W3CDTF">2026-09-22T11:48:36Z</dcterms:modified>
</cp:coreProperties>
</file>